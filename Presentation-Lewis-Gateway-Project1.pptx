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9" r:id="rId24"/>
    <p:sldId id="270" r:id="rId25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Cambria Bold" charset="1" panose="02040803050406030204"/>
      <p:regular r:id="rId19"/>
    </p:embeddedFont>
    <p:embeddedFont>
      <p:font typeface="Arial" charset="1" panose="020B0604020202020204"/>
      <p:regular r:id="rId20"/>
    </p:embeddedFont>
    <p:embeddedFont>
      <p:font typeface="Arial Bold" charset="1" panose="020B0704020202020204"/>
      <p:regular r:id="rId21"/>
    </p:embeddedFont>
    <p:embeddedFont>
      <p:font typeface="Arial Italics" charset="1" panose="020B0604020202090204"/>
      <p:regular r:id="rId22"/>
    </p:embeddedFont>
    <p:embeddedFont>
      <p:font typeface="Courier New" charset="1" panose="02070309020205020404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font" Target="fonts/font19.fntdata"/><Relationship Id="rId20" Type="http://schemas.openxmlformats.org/officeDocument/2006/relationships/font" Target="fonts/font20.fntdata"/><Relationship Id="rId21" Type="http://schemas.openxmlformats.org/officeDocument/2006/relationships/font" Target="fonts/font21.fntdata"/><Relationship Id="rId22" Type="http://schemas.openxmlformats.org/officeDocument/2006/relationships/font" Target="fonts/font22.fntdata"/><Relationship Id="rId23" Type="http://schemas.openxmlformats.org/officeDocument/2006/relationships/font" Target="fonts/font23.fntdata"/><Relationship Id="rId24" Type="http://schemas.openxmlformats.org/officeDocument/2006/relationships/slide" Target="slides/slide10.xml"/><Relationship Id="rId25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video" Target="../media/VAHUdDXeAPE.mp4"/><Relationship Id="rId4" Type="http://schemas.microsoft.com/office/2007/relationships/media" Target="../media/VAHUdDXeAPE.mp4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4E9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167360" y="-3566160"/>
            <a:ext cx="9601200" cy="9601200"/>
            <a:chOff x="0" y="0"/>
            <a:chExt cx="12801600" cy="12801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01600" cy="12801600"/>
            </a:xfrm>
            <a:custGeom>
              <a:avLst/>
              <a:gdLst/>
              <a:ahLst/>
              <a:cxnLst/>
              <a:rect r="r" b="b" t="t" l="l"/>
              <a:pathLst>
                <a:path h="12801600" w="12801600">
                  <a:moveTo>
                    <a:pt x="0" y="6400800"/>
                  </a:moveTo>
                  <a:cubicBezTo>
                    <a:pt x="0" y="2865755"/>
                    <a:pt x="2865755" y="0"/>
                    <a:pt x="6400800" y="0"/>
                  </a:cubicBezTo>
                  <a:cubicBezTo>
                    <a:pt x="9935845" y="0"/>
                    <a:pt x="12801600" y="2865755"/>
                    <a:pt x="12801600" y="6400800"/>
                  </a:cubicBezTo>
                  <a:cubicBezTo>
                    <a:pt x="12801600" y="9935845"/>
                    <a:pt x="9935845" y="12801600"/>
                    <a:pt x="6400800" y="12801600"/>
                  </a:cubicBezTo>
                  <a:cubicBezTo>
                    <a:pt x="2865755" y="12801600"/>
                    <a:pt x="0" y="9935845"/>
                    <a:pt x="0" y="6400800"/>
                  </a:cubicBezTo>
                  <a:close/>
                </a:path>
              </a:pathLst>
            </a:custGeom>
            <a:solidFill>
              <a:srgbClr val="D80E1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3291840" y="7132320"/>
            <a:ext cx="6858000" cy="6858000"/>
            <a:chOff x="0" y="0"/>
            <a:chExt cx="9144000" cy="9144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144000" cy="9144000"/>
            </a:xfrm>
            <a:custGeom>
              <a:avLst/>
              <a:gdLst/>
              <a:ahLst/>
              <a:cxnLst/>
              <a:rect r="r" b="b" t="t" l="l"/>
              <a:pathLst>
                <a:path h="9144000" w="9144000">
                  <a:moveTo>
                    <a:pt x="0" y="4572000"/>
                  </a:moveTo>
                  <a:cubicBezTo>
                    <a:pt x="0" y="2046986"/>
                    <a:pt x="2046986" y="0"/>
                    <a:pt x="4572000" y="0"/>
                  </a:cubicBezTo>
                  <a:cubicBezTo>
                    <a:pt x="7097014" y="0"/>
                    <a:pt x="9144000" y="2046986"/>
                    <a:pt x="9144000" y="4572000"/>
                  </a:cubicBezTo>
                  <a:cubicBezTo>
                    <a:pt x="9144000" y="7097014"/>
                    <a:pt x="7097014" y="9144000"/>
                    <a:pt x="4572000" y="9144000"/>
                  </a:cubicBezTo>
                  <a:cubicBezTo>
                    <a:pt x="2046986" y="9144000"/>
                    <a:pt x="0" y="7097014"/>
                    <a:pt x="0" y="4572000"/>
                  </a:cubicBezTo>
                  <a:close/>
                </a:path>
              </a:pathLst>
            </a:custGeom>
            <a:solidFill>
              <a:srgbClr val="0E0E0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803906" y="1522828"/>
            <a:ext cx="15773400" cy="5496412"/>
            <a:chOff x="0" y="0"/>
            <a:chExt cx="21031200" cy="73285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031200" cy="7328550"/>
            </a:xfrm>
            <a:custGeom>
              <a:avLst/>
              <a:gdLst/>
              <a:ahLst/>
              <a:cxnLst/>
              <a:rect r="r" b="b" t="t" l="l"/>
              <a:pathLst>
                <a:path h="732855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7328550"/>
                  </a:lnTo>
                  <a:lnTo>
                    <a:pt x="0" y="73285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192" r="0" b="30357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21031200" cy="7328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999"/>
                </a:lnSpc>
              </a:pPr>
              <a:r>
                <a:rPr lang="en-US" sz="7499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Lewis-Gateway Project 1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22960" y="5349240"/>
            <a:ext cx="14401800" cy="685800"/>
            <a:chOff x="0" y="0"/>
            <a:chExt cx="19202400" cy="914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202400" cy="914400"/>
            </a:xfrm>
            <a:custGeom>
              <a:avLst/>
              <a:gdLst/>
              <a:ahLst/>
              <a:cxnLst/>
              <a:rect r="r" b="b" t="t" l="l"/>
              <a:pathLst>
                <a:path h="91440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9185" r="0" b="-359185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1920240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99"/>
                </a:lnSpc>
              </a:pPr>
              <a:r>
                <a:rPr lang="en-US" sz="2749">
                  <a:solidFill>
                    <a:srgbClr val="D9D9D9"/>
                  </a:solidFill>
                  <a:latin typeface="Arial"/>
                  <a:ea typeface="Arial"/>
                  <a:cs typeface="Arial"/>
                  <a:sym typeface="Arial"/>
                </a:rPr>
                <a:t>Quality Engineering Test Strategy, Audit Findings &amp; Recommendations</a:t>
              </a:r>
            </a:p>
          </p:txBody>
        </p:sp>
      </p:grpSp>
      <p:sp>
        <p:nvSpPr>
          <p:cNvPr name="AutoShape 12" id="12"/>
          <p:cNvSpPr/>
          <p:nvPr/>
        </p:nvSpPr>
        <p:spPr>
          <a:xfrm rot="29580">
            <a:off x="803824" y="6327267"/>
            <a:ext cx="4427382" cy="0"/>
          </a:xfrm>
          <a:prstGeom prst="line">
            <a:avLst/>
          </a:prstGeom>
          <a:ln cap="rnd" w="19050">
            <a:solidFill>
              <a:srgbClr val="D80E1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3" id="13"/>
          <p:cNvGrpSpPr/>
          <p:nvPr/>
        </p:nvGrpSpPr>
        <p:grpSpPr>
          <a:xfrm rot="0">
            <a:off x="822960" y="6652260"/>
            <a:ext cx="14401800" cy="548640"/>
            <a:chOff x="0" y="0"/>
            <a:chExt cx="19202400" cy="7315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202400" cy="731520"/>
            </a:xfrm>
            <a:custGeom>
              <a:avLst/>
              <a:gdLst/>
              <a:ahLst/>
              <a:cxnLst/>
              <a:rect r="r" b="b" t="t" l="l"/>
              <a:pathLst>
                <a:path h="73152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61482" r="0" b="-461482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1920240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59"/>
                </a:lnSpc>
              </a:pPr>
              <a:r>
                <a:rPr lang="en-US" sz="2549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Muhammad Uzair Salaam   |   Mogamat Yaaseen Karriem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22960" y="7200900"/>
            <a:ext cx="14401800" cy="480060"/>
            <a:chOff x="0" y="0"/>
            <a:chExt cx="19202400" cy="6400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9202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19202400" cy="6496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79"/>
                </a:lnSpc>
              </a:pPr>
              <a:r>
                <a:rPr lang="en-US" sz="2149">
                  <a:solidFill>
                    <a:srgbClr val="BFBFBF"/>
                  </a:solidFill>
                  <a:latin typeface="Arial"/>
                  <a:ea typeface="Arial"/>
                  <a:cs typeface="Arial"/>
                  <a:sym typeface="Arial"/>
                </a:rPr>
                <a:t>redAcademy Quality Engineering  •  Cohort 2027A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822960" y="7653528"/>
            <a:ext cx="14401800" cy="480060"/>
            <a:chOff x="0" y="0"/>
            <a:chExt cx="19202400" cy="64008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9202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19202400" cy="6496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79"/>
                </a:lnSpc>
              </a:pPr>
              <a:r>
                <a:rPr lang="en-US" sz="2149">
                  <a:solidFill>
                    <a:srgbClr val="BFBFBF"/>
                  </a:solidFill>
                  <a:latin typeface="Arial"/>
                  <a:ea typeface="Arial"/>
                  <a:cs typeface="Arial"/>
                  <a:sym typeface="Arial"/>
                </a:rPr>
                <a:t>18 September 2026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822960" y="9532620"/>
            <a:ext cx="12344400" cy="411480"/>
            <a:chOff x="0" y="0"/>
            <a:chExt cx="16459200" cy="5486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6459200" cy="548640"/>
            </a:xfrm>
            <a:custGeom>
              <a:avLst/>
              <a:gdLst/>
              <a:ahLst/>
              <a:cxnLst/>
              <a:rect r="r" b="b" t="t" l="l"/>
              <a:pathLst>
                <a:path h="54864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164592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0"/>
                </a:lnSpc>
              </a:pPr>
              <a:r>
                <a:rPr lang="en-US" sz="1275" i="true">
                  <a:solidFill>
                    <a:srgbClr val="8A8A8A"/>
                  </a:solidFill>
                  <a:latin typeface="Arial Italics"/>
                  <a:ea typeface="Arial Italics"/>
                  <a:cs typeface="Arial Italics"/>
                  <a:sym typeface="Arial Italics"/>
                </a:rPr>
                <a:t>Wordmark shown is a placeholder — replace with official Lewis Group Limited artwork before final submission.</a:t>
              </a: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137160" y="182165"/>
            <a:ext cx="2257427" cy="1693070"/>
          </a:xfrm>
          <a:custGeom>
            <a:avLst/>
            <a:gdLst/>
            <a:ahLst/>
            <a:cxnLst/>
            <a:rect r="r" b="b" t="t" l="l"/>
            <a:pathLst>
              <a:path h="1693070" w="2257427">
                <a:moveTo>
                  <a:pt x="0" y="0"/>
                </a:moveTo>
                <a:lnTo>
                  <a:pt x="2257427" y="0"/>
                </a:lnTo>
                <a:lnTo>
                  <a:pt x="2257427" y="1693070"/>
                </a:lnTo>
                <a:lnTo>
                  <a:pt x="0" y="16930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17220"/>
            <a:ext cx="13716000" cy="411480"/>
            <a:chOff x="0" y="0"/>
            <a:chExt cx="182880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548640"/>
            </a:xfrm>
            <a:custGeom>
              <a:avLst/>
              <a:gdLst/>
              <a:ahLst/>
              <a:cxnLst/>
              <a:rect r="r" b="b" t="t" l="l"/>
              <a:pathLst>
                <a:path h="54864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99501" r="0" b="-5995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182880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299">
                  <a:solidFill>
                    <a:srgbClr val="D80E1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AGENDA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987552"/>
            <a:ext cx="15773400" cy="1097280"/>
            <a:chOff x="0" y="0"/>
            <a:chExt cx="21031200" cy="14630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0312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0097" r="0" b="-230097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10312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232323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What We'll Cover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400300"/>
            <a:ext cx="576072" cy="576072"/>
            <a:chOff x="0" y="0"/>
            <a:chExt cx="768096" cy="7680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cubicBezTo>
                    <a:pt x="596138" y="0"/>
                    <a:pt x="768096" y="171958"/>
                    <a:pt x="768096" y="384048"/>
                  </a:cubicBezTo>
                  <a:cubicBezTo>
                    <a:pt x="768096" y="596138"/>
                    <a:pt x="596138" y="768096"/>
                    <a:pt x="384048" y="768096"/>
                  </a:cubicBez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D80E13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486918" y="2084832"/>
            <a:ext cx="1248156" cy="1248156"/>
            <a:chOff x="0" y="0"/>
            <a:chExt cx="768096" cy="76809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768096" cy="7871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b="true" sz="225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73352" y="2372868"/>
            <a:ext cx="13030200" cy="630936"/>
            <a:chOff x="0" y="0"/>
            <a:chExt cx="17373600" cy="84124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7373600" cy="841248"/>
            </a:xfrm>
            <a:custGeom>
              <a:avLst/>
              <a:gdLst/>
              <a:ahLst/>
              <a:cxnLst/>
              <a:rect r="r" b="b" t="t" l="l"/>
              <a:pathLst>
                <a:path h="841248" w="17373600">
                  <a:moveTo>
                    <a:pt x="0" y="0"/>
                  </a:moveTo>
                  <a:lnTo>
                    <a:pt x="17373600" y="0"/>
                  </a:lnTo>
                  <a:lnTo>
                    <a:pt x="17373600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2408" r="0" b="-352408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17373600" cy="8507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70"/>
                </a:lnSpc>
              </a:pPr>
              <a:r>
                <a:rPr lang="en-US" sz="2475">
                  <a:solidFill>
                    <a:srgbClr val="232323"/>
                  </a:solidFill>
                  <a:latin typeface="Arial"/>
                  <a:ea typeface="Arial"/>
                  <a:cs typeface="Arial"/>
                  <a:sym typeface="Arial"/>
                </a:rPr>
                <a:t>Project Scope &amp; Objectives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22960" y="3332988"/>
            <a:ext cx="576072" cy="576072"/>
            <a:chOff x="0" y="0"/>
            <a:chExt cx="768096" cy="76809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cubicBezTo>
                    <a:pt x="596138" y="0"/>
                    <a:pt x="768096" y="171958"/>
                    <a:pt x="768096" y="384048"/>
                  </a:cubicBezTo>
                  <a:cubicBezTo>
                    <a:pt x="768096" y="596138"/>
                    <a:pt x="596138" y="768096"/>
                    <a:pt x="384048" y="768096"/>
                  </a:cubicBez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054E9C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646748" y="3156776"/>
            <a:ext cx="928497" cy="928497"/>
            <a:chOff x="0" y="0"/>
            <a:chExt cx="768096" cy="76809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768096" cy="7871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673352" y="3305556"/>
            <a:ext cx="13030200" cy="630936"/>
            <a:chOff x="0" y="0"/>
            <a:chExt cx="17373600" cy="84124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7373600" cy="841248"/>
            </a:xfrm>
            <a:custGeom>
              <a:avLst/>
              <a:gdLst/>
              <a:ahLst/>
              <a:cxnLst/>
              <a:rect r="r" b="b" t="t" l="l"/>
              <a:pathLst>
                <a:path h="841248" w="17373600">
                  <a:moveTo>
                    <a:pt x="0" y="0"/>
                  </a:moveTo>
                  <a:lnTo>
                    <a:pt x="17373600" y="0"/>
                  </a:lnTo>
                  <a:lnTo>
                    <a:pt x="17373600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2408" r="0" b="-352408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9525"/>
              <a:ext cx="17373600" cy="8507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70"/>
                </a:lnSpc>
              </a:pPr>
              <a:r>
                <a:rPr lang="en-US" sz="2475">
                  <a:solidFill>
                    <a:srgbClr val="232323"/>
                  </a:solidFill>
                  <a:latin typeface="Arial"/>
                  <a:ea typeface="Arial"/>
                  <a:cs typeface="Arial"/>
                  <a:sym typeface="Arial"/>
                </a:rPr>
                <a:t>Testing Methodology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822960" y="4265676"/>
            <a:ext cx="576072" cy="576072"/>
            <a:chOff x="0" y="0"/>
            <a:chExt cx="768096" cy="76809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cubicBezTo>
                    <a:pt x="596138" y="0"/>
                    <a:pt x="768096" y="171958"/>
                    <a:pt x="768096" y="384048"/>
                  </a:cubicBezTo>
                  <a:cubicBezTo>
                    <a:pt x="768096" y="596138"/>
                    <a:pt x="596138" y="768096"/>
                    <a:pt x="384048" y="768096"/>
                  </a:cubicBez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D80E13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822960" y="4265676"/>
            <a:ext cx="576072" cy="576072"/>
            <a:chOff x="0" y="0"/>
            <a:chExt cx="768096" cy="76809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9050"/>
              <a:ext cx="768096" cy="7871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673352" y="4238244"/>
            <a:ext cx="13030200" cy="630936"/>
            <a:chOff x="0" y="0"/>
            <a:chExt cx="17373600" cy="84124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7373600" cy="841248"/>
            </a:xfrm>
            <a:custGeom>
              <a:avLst/>
              <a:gdLst/>
              <a:ahLst/>
              <a:cxnLst/>
              <a:rect r="r" b="b" t="t" l="l"/>
              <a:pathLst>
                <a:path h="841248" w="17373600">
                  <a:moveTo>
                    <a:pt x="0" y="0"/>
                  </a:moveTo>
                  <a:lnTo>
                    <a:pt x="17373600" y="0"/>
                  </a:lnTo>
                  <a:lnTo>
                    <a:pt x="17373600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2408" r="0" b="-352408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9525"/>
              <a:ext cx="17373600" cy="8507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70"/>
                </a:lnSpc>
              </a:pPr>
              <a:r>
                <a:rPr lang="en-US" sz="2475">
                  <a:solidFill>
                    <a:srgbClr val="232323"/>
                  </a:solidFill>
                  <a:latin typeface="Arial"/>
                  <a:ea typeface="Arial"/>
                  <a:cs typeface="Arial"/>
                  <a:sym typeface="Arial"/>
                </a:rPr>
                <a:t>API Layer — Coverage &amp; Findings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822960" y="5198364"/>
            <a:ext cx="576072" cy="576072"/>
            <a:chOff x="0" y="0"/>
            <a:chExt cx="768096" cy="76809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cubicBezTo>
                    <a:pt x="596138" y="0"/>
                    <a:pt x="768096" y="171958"/>
                    <a:pt x="768096" y="384048"/>
                  </a:cubicBezTo>
                  <a:cubicBezTo>
                    <a:pt x="768096" y="596138"/>
                    <a:pt x="596138" y="768096"/>
                    <a:pt x="384048" y="768096"/>
                  </a:cubicBez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054E9C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822960" y="5198364"/>
            <a:ext cx="576072" cy="576072"/>
            <a:chOff x="0" y="0"/>
            <a:chExt cx="768096" cy="76809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19050"/>
              <a:ext cx="768096" cy="7871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4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673352" y="5170932"/>
            <a:ext cx="13030200" cy="630936"/>
            <a:chOff x="0" y="0"/>
            <a:chExt cx="17373600" cy="841248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7373600" cy="841248"/>
            </a:xfrm>
            <a:custGeom>
              <a:avLst/>
              <a:gdLst/>
              <a:ahLst/>
              <a:cxnLst/>
              <a:rect r="r" b="b" t="t" l="l"/>
              <a:pathLst>
                <a:path h="841248" w="17373600">
                  <a:moveTo>
                    <a:pt x="0" y="0"/>
                  </a:moveTo>
                  <a:lnTo>
                    <a:pt x="17373600" y="0"/>
                  </a:lnTo>
                  <a:lnTo>
                    <a:pt x="17373600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2408" r="0" b="-352408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9525"/>
              <a:ext cx="17373600" cy="8507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70"/>
                </a:lnSpc>
              </a:pPr>
              <a:r>
                <a:rPr lang="en-US" sz="2475">
                  <a:solidFill>
                    <a:srgbClr val="232323"/>
                  </a:solidFill>
                  <a:latin typeface="Arial"/>
                  <a:ea typeface="Arial"/>
                  <a:cs typeface="Arial"/>
                  <a:sym typeface="Arial"/>
                </a:rPr>
                <a:t>Database Layer — Audit &amp; Findings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822960" y="6131052"/>
            <a:ext cx="576072" cy="576072"/>
            <a:chOff x="0" y="0"/>
            <a:chExt cx="768096" cy="76809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cubicBezTo>
                    <a:pt x="596138" y="0"/>
                    <a:pt x="768096" y="171958"/>
                    <a:pt x="768096" y="384048"/>
                  </a:cubicBezTo>
                  <a:cubicBezTo>
                    <a:pt x="768096" y="596138"/>
                    <a:pt x="596138" y="768096"/>
                    <a:pt x="384048" y="768096"/>
                  </a:cubicBez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D80E13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822960" y="6131052"/>
            <a:ext cx="576072" cy="576072"/>
            <a:chOff x="0" y="0"/>
            <a:chExt cx="768096" cy="768096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19050"/>
              <a:ext cx="768096" cy="7871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5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673352" y="6103620"/>
            <a:ext cx="13030200" cy="630936"/>
            <a:chOff x="0" y="0"/>
            <a:chExt cx="17373600" cy="841248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7373600" cy="841248"/>
            </a:xfrm>
            <a:custGeom>
              <a:avLst/>
              <a:gdLst/>
              <a:ahLst/>
              <a:cxnLst/>
              <a:rect r="r" b="b" t="t" l="l"/>
              <a:pathLst>
                <a:path h="841248" w="17373600">
                  <a:moveTo>
                    <a:pt x="0" y="0"/>
                  </a:moveTo>
                  <a:lnTo>
                    <a:pt x="17373600" y="0"/>
                  </a:lnTo>
                  <a:lnTo>
                    <a:pt x="17373600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2408" r="0" b="-352408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9525"/>
              <a:ext cx="17373600" cy="8507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70"/>
                </a:lnSpc>
              </a:pPr>
              <a:r>
                <a:rPr lang="en-US" sz="2475">
                  <a:solidFill>
                    <a:srgbClr val="232323"/>
                  </a:solidFill>
                  <a:latin typeface="Arial"/>
                  <a:ea typeface="Arial"/>
                  <a:cs typeface="Arial"/>
                  <a:sym typeface="Arial"/>
                </a:rPr>
                <a:t>Defect Log — Severity &amp; Business Risk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822960" y="7063740"/>
            <a:ext cx="576072" cy="576072"/>
            <a:chOff x="0" y="0"/>
            <a:chExt cx="768096" cy="76809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cubicBezTo>
                    <a:pt x="596138" y="0"/>
                    <a:pt x="768096" y="171958"/>
                    <a:pt x="768096" y="384048"/>
                  </a:cubicBezTo>
                  <a:cubicBezTo>
                    <a:pt x="768096" y="596138"/>
                    <a:pt x="596138" y="768096"/>
                    <a:pt x="384048" y="768096"/>
                  </a:cubicBez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054E9C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822960" y="7063740"/>
            <a:ext cx="576072" cy="576072"/>
            <a:chOff x="0" y="0"/>
            <a:chExt cx="768096" cy="768096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19050"/>
              <a:ext cx="768096" cy="7871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6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673352" y="7036308"/>
            <a:ext cx="13030200" cy="630936"/>
            <a:chOff x="0" y="0"/>
            <a:chExt cx="17373600" cy="841248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7373600" cy="841248"/>
            </a:xfrm>
            <a:custGeom>
              <a:avLst/>
              <a:gdLst/>
              <a:ahLst/>
              <a:cxnLst/>
              <a:rect r="r" b="b" t="t" l="l"/>
              <a:pathLst>
                <a:path h="841248" w="17373600">
                  <a:moveTo>
                    <a:pt x="0" y="0"/>
                  </a:moveTo>
                  <a:lnTo>
                    <a:pt x="17373600" y="0"/>
                  </a:lnTo>
                  <a:lnTo>
                    <a:pt x="17373600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2408" r="0" b="-352408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9525"/>
              <a:ext cx="17373600" cy="8507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70"/>
                </a:lnSpc>
              </a:pPr>
              <a:r>
                <a:rPr lang="en-US" sz="2475">
                  <a:solidFill>
                    <a:srgbClr val="232323"/>
                  </a:solidFill>
                  <a:latin typeface="Arial"/>
                  <a:ea typeface="Arial"/>
                  <a:cs typeface="Arial"/>
                  <a:sym typeface="Arial"/>
                </a:rPr>
                <a:t>Recorded Demo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822960" y="7996428"/>
            <a:ext cx="576072" cy="576072"/>
            <a:chOff x="0" y="0"/>
            <a:chExt cx="768096" cy="768096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cubicBezTo>
                    <a:pt x="596138" y="0"/>
                    <a:pt x="768096" y="171958"/>
                    <a:pt x="768096" y="384048"/>
                  </a:cubicBezTo>
                  <a:cubicBezTo>
                    <a:pt x="768096" y="596138"/>
                    <a:pt x="596138" y="768096"/>
                    <a:pt x="384048" y="768096"/>
                  </a:cubicBez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D80E13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822960" y="7996428"/>
            <a:ext cx="576072" cy="576072"/>
            <a:chOff x="0" y="0"/>
            <a:chExt cx="768096" cy="768096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19050"/>
              <a:ext cx="768096" cy="7871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7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673352" y="7968996"/>
            <a:ext cx="13030200" cy="630936"/>
            <a:chOff x="0" y="0"/>
            <a:chExt cx="17373600" cy="841248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7373600" cy="841248"/>
            </a:xfrm>
            <a:custGeom>
              <a:avLst/>
              <a:gdLst/>
              <a:ahLst/>
              <a:cxnLst/>
              <a:rect r="r" b="b" t="t" l="l"/>
              <a:pathLst>
                <a:path h="841248" w="17373600">
                  <a:moveTo>
                    <a:pt x="0" y="0"/>
                  </a:moveTo>
                  <a:lnTo>
                    <a:pt x="17373600" y="0"/>
                  </a:lnTo>
                  <a:lnTo>
                    <a:pt x="17373600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2408" r="0" b="-352408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9525"/>
              <a:ext cx="17373600" cy="8507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70"/>
                </a:lnSpc>
              </a:pPr>
              <a:r>
                <a:rPr lang="en-US" sz="2475">
                  <a:solidFill>
                    <a:srgbClr val="232323"/>
                  </a:solidFill>
                  <a:latin typeface="Arial"/>
                  <a:ea typeface="Arial"/>
                  <a:cs typeface="Arial"/>
                  <a:sym typeface="Arial"/>
                </a:rPr>
                <a:t>Recommendations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822960" y="9710928"/>
            <a:ext cx="8229600" cy="411480"/>
            <a:chOff x="0" y="0"/>
            <a:chExt cx="10972800" cy="54864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19050"/>
              <a:ext cx="109728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0"/>
                </a:lnSpc>
              </a:pPr>
              <a:r>
                <a:rPr lang="en-US" sz="1275">
                  <a:solidFill>
                    <a:srgbClr val="6B6B6B"/>
                  </a:solidFill>
                  <a:latin typeface="Arial"/>
                  <a:ea typeface="Arial"/>
                  <a:cs typeface="Arial"/>
                  <a:sym typeface="Arial"/>
                </a:rPr>
                <a:t>LEWIS-GATEWAY PROJECT 1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6637508" y="9710928"/>
            <a:ext cx="822960" cy="411480"/>
            <a:chOff x="0" y="0"/>
            <a:chExt cx="1097280" cy="54864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09728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19050"/>
              <a:ext cx="109728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6B6B6B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17220"/>
            <a:ext cx="13716000" cy="411480"/>
            <a:chOff x="0" y="0"/>
            <a:chExt cx="182880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548640"/>
            </a:xfrm>
            <a:custGeom>
              <a:avLst/>
              <a:gdLst/>
              <a:ahLst/>
              <a:cxnLst/>
              <a:rect r="r" b="b" t="t" l="l"/>
              <a:pathLst>
                <a:path h="54864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99501" r="0" b="-5995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182880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299">
                  <a:solidFill>
                    <a:srgbClr val="D80E1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INTRODUCTION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987552"/>
            <a:ext cx="15773400" cy="1097280"/>
            <a:chOff x="0" y="0"/>
            <a:chExt cx="21031200" cy="14630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0312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0097" r="0" b="-230097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10312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232323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Project Scope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537460"/>
            <a:ext cx="9052560" cy="2606040"/>
            <a:chOff x="0" y="0"/>
            <a:chExt cx="12070080" cy="34747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070080" cy="3474720"/>
            </a:xfrm>
            <a:custGeom>
              <a:avLst/>
              <a:gdLst/>
              <a:ahLst/>
              <a:cxnLst/>
              <a:rect r="r" b="b" t="t" l="l"/>
              <a:pathLst>
                <a:path h="3474720" w="12070080">
                  <a:moveTo>
                    <a:pt x="0" y="0"/>
                  </a:moveTo>
                  <a:lnTo>
                    <a:pt x="12070080" y="0"/>
                  </a:lnTo>
                  <a:lnTo>
                    <a:pt x="12070080" y="3474720"/>
                  </a:lnTo>
                  <a:lnTo>
                    <a:pt x="0" y="3474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684" r="0" b="-17684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76200"/>
              <a:ext cx="12070080" cy="35509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62"/>
                </a:lnSpc>
              </a:pPr>
              <a:r>
                <a:rPr lang="en-US" sz="2175">
                  <a:solidFill>
                    <a:srgbClr val="3A3A3A"/>
                  </a:solidFill>
                  <a:latin typeface="Arial"/>
                  <a:ea typeface="Arial"/>
                  <a:cs typeface="Arial"/>
                  <a:sym typeface="Arial"/>
                </a:rPr>
                <a:t>Lewis-Gateway —  e-commerce platform backed by a SQL Server database (LewisStoresDb). Our brief was to independently verify the platform is trustworthy at two levels: that the API behaves correctly, and that the data underneath it actually supports what the API reports.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22960" y="5417820"/>
            <a:ext cx="9052560" cy="480060"/>
            <a:chOff x="0" y="0"/>
            <a:chExt cx="12070080" cy="6400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070080" cy="640080"/>
            </a:xfrm>
            <a:custGeom>
              <a:avLst/>
              <a:gdLst/>
              <a:ahLst/>
              <a:cxnLst/>
              <a:rect r="r" b="b" t="t" l="l"/>
              <a:pathLst>
                <a:path h="640080" w="12070080">
                  <a:moveTo>
                    <a:pt x="0" y="0"/>
                  </a:moveTo>
                  <a:lnTo>
                    <a:pt x="12070080" y="0"/>
                  </a:lnTo>
                  <a:lnTo>
                    <a:pt x="120700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7432" r="0" b="-317432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1207008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>
                  <a:solidFill>
                    <a:srgbClr val="D80E1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Objective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22960" y="5925312"/>
            <a:ext cx="9052560" cy="1234440"/>
            <a:chOff x="0" y="0"/>
            <a:chExt cx="12070080" cy="16459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0700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2070080">
                  <a:moveTo>
                    <a:pt x="0" y="0"/>
                  </a:moveTo>
                  <a:lnTo>
                    <a:pt x="12070080" y="0"/>
                  </a:lnTo>
                  <a:lnTo>
                    <a:pt x="120700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2890" r="0" b="-9289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12070080" cy="17030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16"/>
                </a:lnSpc>
              </a:pPr>
              <a:r>
                <a:rPr lang="en-US" sz="2025" i="true">
                  <a:solidFill>
                    <a:srgbClr val="3A3A3A"/>
                  </a:solidFill>
                  <a:latin typeface="Arial Italics"/>
                  <a:ea typeface="Arial Italics"/>
                  <a:cs typeface="Arial Italics"/>
                  <a:sym typeface="Arial Italics"/>
                </a:rPr>
                <a:t>Confirm that what the API promises is actually backed by the data underneath it — and surface any gap between the two as a reportable defect.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972800" y="2537460"/>
            <a:ext cx="6446520" cy="2194560"/>
            <a:chOff x="0" y="0"/>
            <a:chExt cx="8595360" cy="29260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595361" cy="2926080"/>
            </a:xfrm>
            <a:custGeom>
              <a:avLst/>
              <a:gdLst/>
              <a:ahLst/>
              <a:cxnLst/>
              <a:rect r="r" b="b" t="t" l="l"/>
              <a:pathLst>
                <a:path h="2926080" w="8595361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8449056" y="0"/>
                  </a:lnTo>
                  <a:cubicBezTo>
                    <a:pt x="8529828" y="0"/>
                    <a:pt x="8595361" y="65532"/>
                    <a:pt x="8595361" y="146304"/>
                  </a:cubicBezTo>
                  <a:lnTo>
                    <a:pt x="8595361" y="2779776"/>
                  </a:lnTo>
                  <a:cubicBezTo>
                    <a:pt x="8595361" y="2860548"/>
                    <a:pt x="8529828" y="2926080"/>
                    <a:pt x="8449056" y="2926080"/>
                  </a:cubicBezTo>
                  <a:lnTo>
                    <a:pt x="146304" y="2926080"/>
                  </a:lnTo>
                  <a:cubicBezTo>
                    <a:pt x="65532" y="2926080"/>
                    <a:pt x="0" y="2860548"/>
                    <a:pt x="0" y="2779776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1384280" y="2948940"/>
            <a:ext cx="685800" cy="685800"/>
            <a:chOff x="0" y="0"/>
            <a:chExt cx="914400" cy="9144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D80E13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1384280" y="2948940"/>
            <a:ext cx="685800" cy="685800"/>
            <a:chOff x="0" y="0"/>
            <a:chExt cx="914400" cy="9144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91440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2275820" y="2921508"/>
            <a:ext cx="4937760" cy="480060"/>
            <a:chOff x="0" y="0"/>
            <a:chExt cx="6583680" cy="64008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583680" cy="640080"/>
            </a:xfrm>
            <a:custGeom>
              <a:avLst/>
              <a:gdLst/>
              <a:ahLst/>
              <a:cxnLst/>
              <a:rect r="r" b="b" t="t" l="l"/>
              <a:pathLst>
                <a:path h="64008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0417" r="0" b="-150417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658368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23232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Layer 1 — API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1384280" y="3703320"/>
            <a:ext cx="5623560" cy="891540"/>
            <a:chOff x="0" y="0"/>
            <a:chExt cx="7498080" cy="118872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498080" cy="1188720"/>
            </a:xfrm>
            <a:custGeom>
              <a:avLst/>
              <a:gdLst/>
              <a:ahLst/>
              <a:cxnLst/>
              <a:rect r="r" b="b" t="t" l="l"/>
              <a:pathLst>
                <a:path h="1188720" w="7498080">
                  <a:moveTo>
                    <a:pt x="0" y="0"/>
                  </a:moveTo>
                  <a:lnTo>
                    <a:pt x="7498080" y="0"/>
                  </a:lnTo>
                  <a:lnTo>
                    <a:pt x="749808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2905" r="0" b="-72905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7498080" cy="12363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80"/>
                </a:lnSpc>
              </a:pPr>
              <a:r>
                <a:rPr lang="en-US" sz="1725">
                  <a:solidFill>
                    <a:srgbClr val="3A3A3A"/>
                  </a:solidFill>
                  <a:latin typeface="Arial"/>
                  <a:ea typeface="Arial"/>
                  <a:cs typeface="Arial"/>
                  <a:sym typeface="Arial"/>
                </a:rPr>
                <a:t>Functional &amp; negative testing of stock and pricing endpoints, driven through Postman.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0972800" y="5074920"/>
            <a:ext cx="6446520" cy="2194560"/>
            <a:chOff x="0" y="0"/>
            <a:chExt cx="8595360" cy="292608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595361" cy="2926080"/>
            </a:xfrm>
            <a:custGeom>
              <a:avLst/>
              <a:gdLst/>
              <a:ahLst/>
              <a:cxnLst/>
              <a:rect r="r" b="b" t="t" l="l"/>
              <a:pathLst>
                <a:path h="2926080" w="8595361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8449056" y="0"/>
                  </a:lnTo>
                  <a:cubicBezTo>
                    <a:pt x="8529828" y="0"/>
                    <a:pt x="8595361" y="65532"/>
                    <a:pt x="8595361" y="146304"/>
                  </a:cubicBezTo>
                  <a:lnTo>
                    <a:pt x="8595361" y="2779776"/>
                  </a:lnTo>
                  <a:cubicBezTo>
                    <a:pt x="8595361" y="2860548"/>
                    <a:pt x="8529828" y="2926080"/>
                    <a:pt x="8449056" y="2926080"/>
                  </a:cubicBezTo>
                  <a:lnTo>
                    <a:pt x="146304" y="2926080"/>
                  </a:lnTo>
                  <a:cubicBezTo>
                    <a:pt x="65532" y="2926080"/>
                    <a:pt x="0" y="2860548"/>
                    <a:pt x="0" y="2779776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1384280" y="5486400"/>
            <a:ext cx="685800" cy="685800"/>
            <a:chOff x="0" y="0"/>
            <a:chExt cx="914400" cy="9144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054E9C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1384280" y="5486400"/>
            <a:ext cx="685800" cy="685800"/>
            <a:chOff x="0" y="0"/>
            <a:chExt cx="914400" cy="9144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19050"/>
              <a:ext cx="91440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2275820" y="5458968"/>
            <a:ext cx="4937760" cy="480060"/>
            <a:chOff x="0" y="0"/>
            <a:chExt cx="6583680" cy="64008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583680" cy="640080"/>
            </a:xfrm>
            <a:custGeom>
              <a:avLst/>
              <a:gdLst/>
              <a:ahLst/>
              <a:cxnLst/>
              <a:rect r="r" b="b" t="t" l="l"/>
              <a:pathLst>
                <a:path h="64008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0417" r="0" b="-150417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19050"/>
              <a:ext cx="658368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23232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Layer 2 — Database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1384280" y="6240780"/>
            <a:ext cx="5623560" cy="891540"/>
            <a:chOff x="0" y="0"/>
            <a:chExt cx="7498080" cy="118872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7498080" cy="1188720"/>
            </a:xfrm>
            <a:custGeom>
              <a:avLst/>
              <a:gdLst/>
              <a:ahLst/>
              <a:cxnLst/>
              <a:rect r="r" b="b" t="t" l="l"/>
              <a:pathLst>
                <a:path h="1188720" w="7498080">
                  <a:moveTo>
                    <a:pt x="0" y="0"/>
                  </a:moveTo>
                  <a:lnTo>
                    <a:pt x="7498080" y="0"/>
                  </a:lnTo>
                  <a:lnTo>
                    <a:pt x="749808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2905" r="0" b="-72905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47625"/>
              <a:ext cx="7498080" cy="12363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80"/>
                </a:lnSpc>
              </a:pPr>
              <a:r>
                <a:rPr lang="en-US" sz="1725">
                  <a:solidFill>
                    <a:srgbClr val="3A3A3A"/>
                  </a:solidFill>
                  <a:latin typeface="Arial"/>
                  <a:ea typeface="Arial"/>
                  <a:cs typeface="Arial"/>
                  <a:sym typeface="Arial"/>
                </a:rPr>
                <a:t>A systems-of-record integrity audit run directly against LewisStoresDb via T-SQL.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1336274" y="6005703"/>
            <a:ext cx="3017520" cy="5061700"/>
            <a:chOff x="0" y="0"/>
            <a:chExt cx="4023360" cy="6748934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4023360" cy="6748934"/>
            </a:xfrm>
            <a:custGeom>
              <a:avLst/>
              <a:gdLst/>
              <a:ahLst/>
              <a:cxnLst/>
              <a:rect r="r" b="b" t="t" l="l"/>
              <a:pathLst>
                <a:path h="6748934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6748934"/>
                  </a:lnTo>
                  <a:lnTo>
                    <a:pt x="0" y="674893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487" t="0" r="-2487" b="75612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9525"/>
              <a:ext cx="4023360" cy="67584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280"/>
                </a:lnSpc>
              </a:pPr>
              <a:r>
                <a:rPr lang="en-US" sz="6900" b="true">
                  <a:solidFill>
                    <a:srgbClr val="054E9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+-100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3853160" y="8092440"/>
            <a:ext cx="3566160" cy="1028700"/>
            <a:chOff x="0" y="0"/>
            <a:chExt cx="4754880" cy="13716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4754880" cy="1371600"/>
            </a:xfrm>
            <a:custGeom>
              <a:avLst/>
              <a:gdLst/>
              <a:ahLst/>
              <a:cxnLst/>
              <a:rect r="r" b="b" t="t" l="l"/>
              <a:pathLst>
                <a:path h="137160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548" r="0" b="-17548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4754880" cy="1409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73"/>
                </a:lnSpc>
              </a:pPr>
              <a:r>
                <a:rPr lang="en-US" sz="1575">
                  <a:solidFill>
                    <a:srgbClr val="6B6B6B"/>
                  </a:solidFill>
                  <a:latin typeface="Arial"/>
                  <a:ea typeface="Arial"/>
                  <a:cs typeface="Arial"/>
                  <a:sym typeface="Arial"/>
                </a:rPr>
                <a:t>total validation checks executed across both layers (+-50 API +- 50 database)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822960" y="9710928"/>
            <a:ext cx="8229600" cy="411480"/>
            <a:chOff x="0" y="0"/>
            <a:chExt cx="10972800" cy="54864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19050"/>
              <a:ext cx="109728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0"/>
                </a:lnSpc>
              </a:pPr>
              <a:r>
                <a:rPr lang="en-US" sz="1275">
                  <a:solidFill>
                    <a:srgbClr val="6B6B6B"/>
                  </a:solidFill>
                  <a:latin typeface="Arial"/>
                  <a:ea typeface="Arial"/>
                  <a:cs typeface="Arial"/>
                  <a:sym typeface="Arial"/>
                </a:rPr>
                <a:t>LEWIS-GATEWAY PROJECT 1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6637508" y="9710928"/>
            <a:ext cx="822960" cy="411480"/>
            <a:chOff x="0" y="0"/>
            <a:chExt cx="1097280" cy="54864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09728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19050"/>
              <a:ext cx="109728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6B6B6B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17220"/>
            <a:ext cx="13716000" cy="411480"/>
            <a:chOff x="0" y="0"/>
            <a:chExt cx="182880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548640"/>
            </a:xfrm>
            <a:custGeom>
              <a:avLst/>
              <a:gdLst/>
              <a:ahLst/>
              <a:cxnLst/>
              <a:rect r="r" b="b" t="t" l="l"/>
              <a:pathLst>
                <a:path h="54864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99501" r="0" b="-5995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182880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299">
                  <a:solidFill>
                    <a:srgbClr val="D80E1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HOW WE WORKED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-128400"/>
            <a:ext cx="15773400" cy="3516252"/>
            <a:chOff x="0" y="0"/>
            <a:chExt cx="21031200" cy="468833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031200" cy="4688336"/>
            </a:xfrm>
            <a:custGeom>
              <a:avLst/>
              <a:gdLst/>
              <a:ahLst/>
              <a:cxnLst/>
              <a:rect r="r" b="b" t="t" l="l"/>
              <a:pathLst>
                <a:path h="4688336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4688336"/>
                  </a:lnTo>
                  <a:lnTo>
                    <a:pt x="0" y="468833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1804" r="0" b="-301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1031200" cy="4697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232323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Testing Methods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537460"/>
            <a:ext cx="685800" cy="685800"/>
            <a:chOff x="0" y="0"/>
            <a:chExt cx="914400" cy="914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D80E13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22960" y="2537460"/>
            <a:ext cx="685800" cy="685800"/>
            <a:chOff x="0" y="0"/>
            <a:chExt cx="914400" cy="914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91440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755648" y="2537460"/>
            <a:ext cx="6720840" cy="548640"/>
            <a:chOff x="0" y="0"/>
            <a:chExt cx="8961120" cy="7315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961120" cy="731520"/>
            </a:xfrm>
            <a:custGeom>
              <a:avLst/>
              <a:gdLst/>
              <a:ahLst/>
              <a:cxnLst/>
              <a:rect r="r" b="b" t="t" l="l"/>
              <a:pathLst>
                <a:path h="731520" w="8961120">
                  <a:moveTo>
                    <a:pt x="0" y="0"/>
                  </a:moveTo>
                  <a:lnTo>
                    <a:pt x="8961120" y="0"/>
                  </a:lnTo>
                  <a:lnTo>
                    <a:pt x="8961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8691" r="0" b="-188691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896112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0"/>
                </a:lnSpc>
              </a:pPr>
              <a:r>
                <a:rPr lang="en-US" sz="2325" b="true">
                  <a:solidFill>
                    <a:srgbClr val="23232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Discovery-First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22960" y="3387852"/>
            <a:ext cx="7680960" cy="2057400"/>
            <a:chOff x="0" y="0"/>
            <a:chExt cx="10241280" cy="27432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241280" cy="2743200"/>
            </a:xfrm>
            <a:custGeom>
              <a:avLst/>
              <a:gdLst/>
              <a:ahLst/>
              <a:cxnLst/>
              <a:rect r="r" b="b" t="t" l="l"/>
              <a:pathLst>
                <a:path h="274320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2743200"/>
                  </a:lnTo>
                  <a:lnTo>
                    <a:pt x="0" y="2743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744" r="0" b="-22744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10241280" cy="2800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87"/>
                </a:lnSpc>
              </a:pPr>
              <a:r>
                <a:rPr lang="en-US" sz="2074">
                  <a:solidFill>
                    <a:srgbClr val="3A3A3A"/>
                  </a:solidFill>
                  <a:latin typeface="Arial"/>
                  <a:ea typeface="Arial"/>
                  <a:cs typeface="Arial"/>
                  <a:sym typeface="Arial"/>
                </a:rPr>
                <a:t>Confirmed the real Swagger contract and live database schema before writing a single test — no test was built on a guessed table or column name.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189720" y="2537460"/>
            <a:ext cx="685800" cy="685800"/>
            <a:chOff x="0" y="0"/>
            <a:chExt cx="914400" cy="9144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054E9C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9189720" y="2537460"/>
            <a:ext cx="685800" cy="685800"/>
            <a:chOff x="0" y="0"/>
            <a:chExt cx="914400" cy="9144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91440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0122408" y="2537460"/>
            <a:ext cx="6720840" cy="548640"/>
            <a:chOff x="0" y="0"/>
            <a:chExt cx="8961120" cy="73152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961120" cy="731520"/>
            </a:xfrm>
            <a:custGeom>
              <a:avLst/>
              <a:gdLst/>
              <a:ahLst/>
              <a:cxnLst/>
              <a:rect r="r" b="b" t="t" l="l"/>
              <a:pathLst>
                <a:path h="731520" w="8961120">
                  <a:moveTo>
                    <a:pt x="0" y="0"/>
                  </a:moveTo>
                  <a:lnTo>
                    <a:pt x="8961120" y="0"/>
                  </a:lnTo>
                  <a:lnTo>
                    <a:pt x="8961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8691" r="0" b="-188691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9525"/>
              <a:ext cx="896112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0"/>
                </a:lnSpc>
              </a:pPr>
              <a:r>
                <a:rPr lang="en-US" sz="2325" b="true">
                  <a:solidFill>
                    <a:srgbClr val="23232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API Testing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189720" y="3223260"/>
            <a:ext cx="7680960" cy="2057400"/>
            <a:chOff x="0" y="0"/>
            <a:chExt cx="10241280" cy="27432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241280" cy="2743200"/>
            </a:xfrm>
            <a:custGeom>
              <a:avLst/>
              <a:gdLst/>
              <a:ahLst/>
              <a:cxnLst/>
              <a:rect r="r" b="b" t="t" l="l"/>
              <a:pathLst>
                <a:path h="274320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2743200"/>
                  </a:lnTo>
                  <a:lnTo>
                    <a:pt x="0" y="2743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744" r="0" b="-22744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57150"/>
              <a:ext cx="10241280" cy="2800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87"/>
                </a:lnSpc>
              </a:pPr>
              <a:r>
                <a:rPr lang="en-US" sz="2074">
                  <a:solidFill>
                    <a:srgbClr val="3A3A3A"/>
                  </a:solidFill>
                  <a:latin typeface="Arial"/>
                  <a:ea typeface="Arial"/>
                  <a:cs typeface="Arial"/>
                  <a:sym typeface="Arial"/>
                </a:rPr>
                <a:t>Postman collections with JavaScript test scripts, validating status codes, the ProblemDetails error shape, and response payloads.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822960" y="5966460"/>
            <a:ext cx="685800" cy="685800"/>
            <a:chOff x="0" y="0"/>
            <a:chExt cx="914400" cy="9144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D80E13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822960" y="5966460"/>
            <a:ext cx="685800" cy="685800"/>
            <a:chOff x="0" y="0"/>
            <a:chExt cx="914400" cy="9144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19050"/>
              <a:ext cx="91440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755648" y="5966460"/>
            <a:ext cx="6720840" cy="548640"/>
            <a:chOff x="0" y="0"/>
            <a:chExt cx="8961120" cy="73152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961120" cy="731520"/>
            </a:xfrm>
            <a:custGeom>
              <a:avLst/>
              <a:gdLst/>
              <a:ahLst/>
              <a:cxnLst/>
              <a:rect r="r" b="b" t="t" l="l"/>
              <a:pathLst>
                <a:path h="731520" w="8961120">
                  <a:moveTo>
                    <a:pt x="0" y="0"/>
                  </a:moveTo>
                  <a:lnTo>
                    <a:pt x="8961120" y="0"/>
                  </a:lnTo>
                  <a:lnTo>
                    <a:pt x="8961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8691" r="0" b="-188691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896112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0"/>
                </a:lnSpc>
              </a:pPr>
              <a:r>
                <a:rPr lang="en-US" sz="2325" b="true">
                  <a:solidFill>
                    <a:srgbClr val="23232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Database Auditing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822960" y="6816852"/>
            <a:ext cx="7680960" cy="2057400"/>
            <a:chOff x="0" y="0"/>
            <a:chExt cx="10241280" cy="27432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241280" cy="2743200"/>
            </a:xfrm>
            <a:custGeom>
              <a:avLst/>
              <a:gdLst/>
              <a:ahLst/>
              <a:cxnLst/>
              <a:rect r="r" b="b" t="t" l="l"/>
              <a:pathLst>
                <a:path h="274320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2743200"/>
                  </a:lnTo>
                  <a:lnTo>
                    <a:pt x="0" y="2743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744" r="0" b="-22744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57150"/>
              <a:ext cx="10241280" cy="2800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87"/>
                </a:lnSpc>
              </a:pPr>
              <a:r>
                <a:rPr lang="en-US" sz="2074">
                  <a:solidFill>
                    <a:srgbClr val="3A3A3A"/>
                  </a:solidFill>
                  <a:latin typeface="Arial"/>
                  <a:ea typeface="Arial"/>
                  <a:cs typeface="Arial"/>
                  <a:sym typeface="Arial"/>
                </a:rPr>
                <a:t>T-SQL scripts run in VSCode directly against LewisStoresDb — cross-table reconciliation and schema-level constraint checks.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9189720" y="5966460"/>
            <a:ext cx="685800" cy="685800"/>
            <a:chOff x="0" y="0"/>
            <a:chExt cx="914400" cy="9144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054E9C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9189720" y="5966460"/>
            <a:ext cx="685800" cy="685800"/>
            <a:chOff x="0" y="0"/>
            <a:chExt cx="914400" cy="9144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19050"/>
              <a:ext cx="91440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4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0122408" y="5966460"/>
            <a:ext cx="6720840" cy="548640"/>
            <a:chOff x="0" y="0"/>
            <a:chExt cx="8961120" cy="73152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8961120" cy="731520"/>
            </a:xfrm>
            <a:custGeom>
              <a:avLst/>
              <a:gdLst/>
              <a:ahLst/>
              <a:cxnLst/>
              <a:rect r="r" b="b" t="t" l="l"/>
              <a:pathLst>
                <a:path h="731520" w="8961120">
                  <a:moveTo>
                    <a:pt x="0" y="0"/>
                  </a:moveTo>
                  <a:lnTo>
                    <a:pt x="8961120" y="0"/>
                  </a:lnTo>
                  <a:lnTo>
                    <a:pt x="8961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8691" r="0" b="-188691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9525"/>
              <a:ext cx="896112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0"/>
                </a:lnSpc>
              </a:pPr>
              <a:r>
                <a:rPr lang="en-US" sz="2325" b="true">
                  <a:solidFill>
                    <a:srgbClr val="23232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Traceability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9189720" y="6816852"/>
            <a:ext cx="7680960" cy="2057400"/>
            <a:chOff x="0" y="0"/>
            <a:chExt cx="10241280" cy="27432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0241280" cy="2743200"/>
            </a:xfrm>
            <a:custGeom>
              <a:avLst/>
              <a:gdLst/>
              <a:ahLst/>
              <a:cxnLst/>
              <a:rect r="r" b="b" t="t" l="l"/>
              <a:pathLst>
                <a:path h="274320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2743200"/>
                  </a:lnTo>
                  <a:lnTo>
                    <a:pt x="0" y="2743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744" r="0" b="-22744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57150"/>
              <a:ext cx="10241280" cy="2800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87"/>
                </a:lnSpc>
              </a:pPr>
              <a:r>
                <a:rPr lang="en-US" sz="2074">
                  <a:solidFill>
                    <a:srgbClr val="3A3A3A"/>
                  </a:solidFill>
                  <a:latin typeface="Arial"/>
                  <a:ea typeface="Arial"/>
                  <a:cs typeface="Arial"/>
                  <a:sym typeface="Arial"/>
                </a:rPr>
                <a:t>Every check logged in a structured test case log: Test ID, Description, Expected Result, Actual Result, Pass/Fail.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822960" y="9710928"/>
            <a:ext cx="8229600" cy="411480"/>
            <a:chOff x="0" y="0"/>
            <a:chExt cx="10972800" cy="54864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19050"/>
              <a:ext cx="109728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0"/>
                </a:lnSpc>
              </a:pPr>
              <a:r>
                <a:rPr lang="en-US" sz="1275">
                  <a:solidFill>
                    <a:srgbClr val="6B6B6B"/>
                  </a:solidFill>
                  <a:latin typeface="Arial"/>
                  <a:ea typeface="Arial"/>
                  <a:cs typeface="Arial"/>
                  <a:sym typeface="Arial"/>
                </a:rPr>
                <a:t>LEWIS-GATEWAY PROJECT 1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6637508" y="9710928"/>
            <a:ext cx="822960" cy="411480"/>
            <a:chOff x="0" y="0"/>
            <a:chExt cx="1097280" cy="54864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09728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19050"/>
              <a:ext cx="109728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6B6B6B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17220"/>
            <a:ext cx="13716000" cy="411480"/>
            <a:chOff x="0" y="0"/>
            <a:chExt cx="182880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548640"/>
            </a:xfrm>
            <a:custGeom>
              <a:avLst/>
              <a:gdLst/>
              <a:ahLst/>
              <a:cxnLst/>
              <a:rect r="r" b="b" t="t" l="l"/>
              <a:pathLst>
                <a:path h="54864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99501" r="0" b="-5995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182880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299">
                  <a:solidFill>
                    <a:srgbClr val="D80E1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LAYER 1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987552"/>
            <a:ext cx="15773400" cy="1097280"/>
            <a:chOff x="0" y="0"/>
            <a:chExt cx="21031200" cy="14630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0312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0097" r="0" b="-230097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10312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232323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API Layer — Test Coverage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606040"/>
            <a:ext cx="5143500" cy="3017520"/>
            <a:chOff x="0" y="0"/>
            <a:chExt cx="6858000" cy="40233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858000" cy="4023360"/>
            </a:xfrm>
            <a:custGeom>
              <a:avLst/>
              <a:gdLst/>
              <a:ahLst/>
              <a:cxnLst/>
              <a:rect r="r" b="b" t="t" l="l"/>
              <a:pathLst>
                <a:path h="4023360" w="68580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6711696" y="0"/>
                  </a:lnTo>
                  <a:cubicBezTo>
                    <a:pt x="6792468" y="0"/>
                    <a:pt x="6858000" y="65532"/>
                    <a:pt x="6858000" y="146304"/>
                  </a:cubicBezTo>
                  <a:lnTo>
                    <a:pt x="6858000" y="3877056"/>
                  </a:lnTo>
                  <a:cubicBezTo>
                    <a:pt x="6858000" y="3957828"/>
                    <a:pt x="6792468" y="4023360"/>
                    <a:pt x="6711696" y="4023360"/>
                  </a:cubicBezTo>
                  <a:lnTo>
                    <a:pt x="146304" y="4023360"/>
                  </a:lnTo>
                  <a:cubicBezTo>
                    <a:pt x="65532" y="4023360"/>
                    <a:pt x="0" y="3957828"/>
                    <a:pt x="0" y="3877056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618879" y="822960"/>
            <a:ext cx="5143500" cy="5718570"/>
            <a:chOff x="0" y="0"/>
            <a:chExt cx="6858000" cy="76247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858000" cy="7624760"/>
            </a:xfrm>
            <a:custGeom>
              <a:avLst/>
              <a:gdLst/>
              <a:ahLst/>
              <a:cxnLst/>
              <a:rect r="r" b="b" t="t" l="l"/>
              <a:pathLst>
                <a:path h="762476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7624760"/>
                  </a:lnTo>
                  <a:lnTo>
                    <a:pt x="0" y="76247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533" r="0" b="70481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6858000" cy="7624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360"/>
                </a:lnSpc>
              </a:pPr>
              <a:r>
                <a:rPr lang="en-US" sz="7800" b="true">
                  <a:solidFill>
                    <a:srgbClr val="D80E13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15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165860" y="4320540"/>
            <a:ext cx="4457700" cy="754380"/>
            <a:chOff x="0" y="0"/>
            <a:chExt cx="5943600" cy="10058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9436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5138" r="0" b="-65138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594360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74"/>
                </a:lnSpc>
              </a:pPr>
              <a:r>
                <a:rPr lang="en-US" sz="1950" b="true">
                  <a:solidFill>
                    <a:srgbClr val="23232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Stock Adjustments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165860" y="5102352"/>
            <a:ext cx="4457700" cy="411480"/>
            <a:chOff x="0" y="0"/>
            <a:chExt cx="5943600" cy="5486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943600" cy="548640"/>
            </a:xfrm>
            <a:custGeom>
              <a:avLst/>
              <a:gdLst/>
              <a:ahLst/>
              <a:cxnLst/>
              <a:rect r="r" b="b" t="t" l="l"/>
              <a:pathLst>
                <a:path h="54864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1087" r="0" b="-161087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594360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>
                  <a:solidFill>
                    <a:srgbClr val="6B6B6B"/>
                  </a:solidFill>
                  <a:latin typeface="Arial"/>
                  <a:ea typeface="Arial"/>
                  <a:cs typeface="Arial"/>
                  <a:sym typeface="Arial"/>
                </a:rPr>
                <a:t>API-STK-001 to 015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446520" y="2606040"/>
            <a:ext cx="5143500" cy="3017520"/>
            <a:chOff x="0" y="0"/>
            <a:chExt cx="6858000" cy="402336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858000" cy="4023360"/>
            </a:xfrm>
            <a:custGeom>
              <a:avLst/>
              <a:gdLst/>
              <a:ahLst/>
              <a:cxnLst/>
              <a:rect r="r" b="b" t="t" l="l"/>
              <a:pathLst>
                <a:path h="4023360" w="68580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6711696" y="0"/>
                  </a:lnTo>
                  <a:cubicBezTo>
                    <a:pt x="6792468" y="0"/>
                    <a:pt x="6858000" y="65532"/>
                    <a:pt x="6858000" y="146304"/>
                  </a:cubicBezTo>
                  <a:lnTo>
                    <a:pt x="6858000" y="3877056"/>
                  </a:lnTo>
                  <a:cubicBezTo>
                    <a:pt x="6858000" y="3957828"/>
                    <a:pt x="6792468" y="4023360"/>
                    <a:pt x="6711696" y="4023360"/>
                  </a:cubicBezTo>
                  <a:lnTo>
                    <a:pt x="146304" y="4023360"/>
                  </a:lnTo>
                  <a:cubicBezTo>
                    <a:pt x="65532" y="4023360"/>
                    <a:pt x="0" y="3957828"/>
                    <a:pt x="0" y="3877056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6446520" y="822960"/>
            <a:ext cx="5143500" cy="5718570"/>
            <a:chOff x="0" y="0"/>
            <a:chExt cx="6858000" cy="762476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858000" cy="7624760"/>
            </a:xfrm>
            <a:custGeom>
              <a:avLst/>
              <a:gdLst/>
              <a:ahLst/>
              <a:cxnLst/>
              <a:rect r="r" b="b" t="t" l="l"/>
              <a:pathLst>
                <a:path h="762476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7624760"/>
                  </a:lnTo>
                  <a:lnTo>
                    <a:pt x="0" y="76247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533" r="0" b="70481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6858000" cy="7624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360"/>
                </a:lnSpc>
              </a:pPr>
              <a:r>
                <a:rPr lang="en-US" sz="7800" b="true">
                  <a:solidFill>
                    <a:srgbClr val="D80E13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20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6789420" y="4320540"/>
            <a:ext cx="4457700" cy="754380"/>
            <a:chOff x="0" y="0"/>
            <a:chExt cx="5943600" cy="10058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9436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5138" r="0" b="-65138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594360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74"/>
                </a:lnSpc>
              </a:pPr>
              <a:r>
                <a:rPr lang="en-US" sz="1950" b="true">
                  <a:solidFill>
                    <a:srgbClr val="23232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VAT &amp; Pricing validation cases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6789420" y="5102352"/>
            <a:ext cx="4457700" cy="411480"/>
            <a:chOff x="0" y="0"/>
            <a:chExt cx="5943600" cy="5486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943600" cy="548640"/>
            </a:xfrm>
            <a:custGeom>
              <a:avLst/>
              <a:gdLst/>
              <a:ahLst/>
              <a:cxnLst/>
              <a:rect r="r" b="b" t="t" l="l"/>
              <a:pathLst>
                <a:path h="54864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1087" r="0" b="-161087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9525"/>
              <a:ext cx="594360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>
                  <a:solidFill>
                    <a:srgbClr val="6B6B6B"/>
                  </a:solidFill>
                  <a:latin typeface="Arial"/>
                  <a:ea typeface="Arial"/>
                  <a:cs typeface="Arial"/>
                  <a:sym typeface="Arial"/>
                </a:rPr>
                <a:t>API-PRC-001 to 020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2070080" y="2606040"/>
            <a:ext cx="5143500" cy="3017520"/>
            <a:chOff x="0" y="0"/>
            <a:chExt cx="6858000" cy="402336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858000" cy="4023360"/>
            </a:xfrm>
            <a:custGeom>
              <a:avLst/>
              <a:gdLst/>
              <a:ahLst/>
              <a:cxnLst/>
              <a:rect r="r" b="b" t="t" l="l"/>
              <a:pathLst>
                <a:path h="4023360" w="68580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6711696" y="0"/>
                  </a:lnTo>
                  <a:cubicBezTo>
                    <a:pt x="6792468" y="0"/>
                    <a:pt x="6858000" y="65532"/>
                    <a:pt x="6858000" y="146304"/>
                  </a:cubicBezTo>
                  <a:lnTo>
                    <a:pt x="6858000" y="3877056"/>
                  </a:lnTo>
                  <a:cubicBezTo>
                    <a:pt x="6858000" y="3957828"/>
                    <a:pt x="6792468" y="4023360"/>
                    <a:pt x="6711696" y="4023360"/>
                  </a:cubicBezTo>
                  <a:lnTo>
                    <a:pt x="146304" y="4023360"/>
                  </a:lnTo>
                  <a:cubicBezTo>
                    <a:pt x="65532" y="4023360"/>
                    <a:pt x="0" y="3957828"/>
                    <a:pt x="0" y="3877056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1905488" y="822960"/>
            <a:ext cx="5143500" cy="5718570"/>
            <a:chOff x="0" y="0"/>
            <a:chExt cx="6858000" cy="762476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858000" cy="7624760"/>
            </a:xfrm>
            <a:custGeom>
              <a:avLst/>
              <a:gdLst/>
              <a:ahLst/>
              <a:cxnLst/>
              <a:rect r="r" b="b" t="t" l="l"/>
              <a:pathLst>
                <a:path h="762476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7624760"/>
                  </a:lnTo>
                  <a:lnTo>
                    <a:pt x="0" y="76247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533" r="0" b="70481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0"/>
              <a:ext cx="6858000" cy="7624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360"/>
                </a:lnSpc>
              </a:pPr>
              <a:r>
                <a:rPr lang="en-US" sz="7800" b="true">
                  <a:solidFill>
                    <a:srgbClr val="D80E13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15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2412980" y="4320540"/>
            <a:ext cx="4457700" cy="754380"/>
            <a:chOff x="0" y="0"/>
            <a:chExt cx="5943600" cy="10058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9436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5138" r="0" b="-65138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594360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74"/>
                </a:lnSpc>
              </a:pPr>
              <a:r>
                <a:rPr lang="en-US" sz="1950" b="true">
                  <a:solidFill>
                    <a:srgbClr val="23232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Credit &amp; Debt Governance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2412980" y="5102352"/>
            <a:ext cx="4457700" cy="411480"/>
            <a:chOff x="0" y="0"/>
            <a:chExt cx="5943600" cy="5486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943600" cy="548640"/>
            </a:xfrm>
            <a:custGeom>
              <a:avLst/>
              <a:gdLst/>
              <a:ahLst/>
              <a:cxnLst/>
              <a:rect r="r" b="b" t="t" l="l"/>
              <a:pathLst>
                <a:path h="54864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1087" r="0" b="-161087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9525"/>
              <a:ext cx="594360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>
                  <a:solidFill>
                    <a:srgbClr val="6B6B6B"/>
                  </a:solidFill>
                  <a:latin typeface="Arial"/>
                  <a:ea typeface="Arial"/>
                  <a:cs typeface="Arial"/>
                  <a:sym typeface="Arial"/>
                </a:rPr>
                <a:t>API-CRD-001 to 015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822960" y="6172200"/>
            <a:ext cx="8229600" cy="480060"/>
            <a:chOff x="0" y="0"/>
            <a:chExt cx="10972800" cy="64008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972800" cy="640080"/>
            </a:xfrm>
            <a:custGeom>
              <a:avLst/>
              <a:gdLst/>
              <a:ahLst/>
              <a:cxnLst/>
              <a:rect r="r" b="b" t="t" l="l"/>
              <a:pathLst>
                <a:path h="6400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4029" r="0" b="-284029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19050"/>
              <a:ext cx="1097280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>
                  <a:solidFill>
                    <a:srgbClr val="D80E1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Endpoints under test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822960" y="6720840"/>
            <a:ext cx="13716000" cy="821349"/>
            <a:chOff x="0" y="0"/>
            <a:chExt cx="18288000" cy="1095132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8288000" cy="1095132"/>
            </a:xfrm>
            <a:custGeom>
              <a:avLst/>
              <a:gdLst/>
              <a:ahLst/>
              <a:cxnLst/>
              <a:rect r="r" b="b" t="t" l="l"/>
              <a:pathLst>
                <a:path h="1095132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1095132"/>
                  </a:lnTo>
                  <a:lnTo>
                    <a:pt x="0" y="10951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91988" r="0" b="-258786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9525"/>
              <a:ext cx="18288000" cy="11046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3A3A3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PATCH /api/Products/{id}/stock      •      POST /api/Pricing/validate - POST /api/Credit - POST /api/Orders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822960" y="7475220"/>
            <a:ext cx="14813280" cy="685800"/>
            <a:chOff x="0" y="0"/>
            <a:chExt cx="19751040" cy="9144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9751039" cy="914400"/>
            </a:xfrm>
            <a:custGeom>
              <a:avLst/>
              <a:gdLst/>
              <a:ahLst/>
              <a:cxnLst/>
              <a:rect r="r" b="b" t="t" l="l"/>
              <a:pathLst>
                <a:path h="914400" w="19751039">
                  <a:moveTo>
                    <a:pt x="0" y="0"/>
                  </a:moveTo>
                  <a:lnTo>
                    <a:pt x="19751039" y="0"/>
                  </a:lnTo>
                  <a:lnTo>
                    <a:pt x="19751039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0876" r="0" b="-370876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19050"/>
              <a:ext cx="1975104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i="true">
                  <a:solidFill>
                    <a:srgbClr val="6B6B6B"/>
                  </a:solidFill>
                  <a:latin typeface="Arial Italics"/>
                  <a:ea typeface="Arial Italics"/>
                  <a:cs typeface="Arial Italics"/>
                  <a:sym typeface="Arial Italics"/>
                </a:rPr>
                <a:t>Full request bodies and JavaScript assertions were delivered as an importable Postman collection alongside this report.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822960" y="9710928"/>
            <a:ext cx="8229600" cy="411480"/>
            <a:chOff x="0" y="0"/>
            <a:chExt cx="10972800" cy="5486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19050"/>
              <a:ext cx="109728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0"/>
                </a:lnSpc>
              </a:pPr>
              <a:r>
                <a:rPr lang="en-US" sz="1275">
                  <a:solidFill>
                    <a:srgbClr val="6B6B6B"/>
                  </a:solidFill>
                  <a:latin typeface="Arial"/>
                  <a:ea typeface="Arial"/>
                  <a:cs typeface="Arial"/>
                  <a:sym typeface="Arial"/>
                </a:rPr>
                <a:t>LEWIS-GATEWAY PROJECT 1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6637508" y="9710928"/>
            <a:ext cx="822960" cy="411480"/>
            <a:chOff x="0" y="0"/>
            <a:chExt cx="1097280" cy="54864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09728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19050"/>
              <a:ext cx="109728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6B6B6B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17220"/>
            <a:ext cx="13716000" cy="411480"/>
            <a:chOff x="0" y="0"/>
            <a:chExt cx="182880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548640"/>
            </a:xfrm>
            <a:custGeom>
              <a:avLst/>
              <a:gdLst/>
              <a:ahLst/>
              <a:cxnLst/>
              <a:rect r="r" b="b" t="t" l="l"/>
              <a:pathLst>
                <a:path h="54864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99501" r="0" b="-5995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182880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299">
                  <a:solidFill>
                    <a:srgbClr val="D80E1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LAYER 1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987552"/>
            <a:ext cx="15773400" cy="1097280"/>
            <a:chOff x="0" y="0"/>
            <a:chExt cx="21031200" cy="14630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0312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0097" r="0" b="-230097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10312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232323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API Layer — Key Finding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537460"/>
            <a:ext cx="15265908" cy="1371600"/>
            <a:chOff x="0" y="0"/>
            <a:chExt cx="20354544" cy="1828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354544" cy="1828800"/>
            </a:xfrm>
            <a:custGeom>
              <a:avLst/>
              <a:gdLst/>
              <a:ahLst/>
              <a:cxnLst/>
              <a:rect r="r" b="b" t="t" l="l"/>
              <a:pathLst>
                <a:path h="1828800" w="20354544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20244815" y="0"/>
                  </a:lnTo>
                  <a:cubicBezTo>
                    <a:pt x="20305395" y="0"/>
                    <a:pt x="20354544" y="49149"/>
                    <a:pt x="20354544" y="109728"/>
                  </a:cubicBezTo>
                  <a:lnTo>
                    <a:pt x="20354544" y="1719072"/>
                  </a:lnTo>
                  <a:cubicBezTo>
                    <a:pt x="20354544" y="1779651"/>
                    <a:pt x="20305395" y="1828800"/>
                    <a:pt x="20244815" y="1828800"/>
                  </a:cubicBezTo>
                  <a:lnTo>
                    <a:pt x="109728" y="1828800"/>
                  </a:lnTo>
                  <a:cubicBezTo>
                    <a:pt x="49149" y="1828800"/>
                    <a:pt x="0" y="1779651"/>
                    <a:pt x="0" y="1719072"/>
                  </a:cubicBezTo>
                  <a:close/>
                </a:path>
              </a:pathLst>
            </a:custGeom>
            <a:solidFill>
              <a:srgbClr val="FDF2E9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303020" y="2537460"/>
            <a:ext cx="12618720" cy="1371600"/>
            <a:chOff x="0" y="0"/>
            <a:chExt cx="16824960" cy="1828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6824961" cy="1828800"/>
            </a:xfrm>
            <a:custGeom>
              <a:avLst/>
              <a:gdLst/>
              <a:ahLst/>
              <a:cxnLst/>
              <a:rect r="r" b="b" t="t" l="l"/>
              <a:pathLst>
                <a:path h="1828800" w="16824961">
                  <a:moveTo>
                    <a:pt x="0" y="0"/>
                  </a:moveTo>
                  <a:lnTo>
                    <a:pt x="16824961" y="0"/>
                  </a:lnTo>
                  <a:lnTo>
                    <a:pt x="16824961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9262" r="0" b="-12926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16824960" cy="1847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23232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Currency values are returned unrounded — beyond 2 decimal places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4676120" y="2921508"/>
            <a:ext cx="1755648" cy="617220"/>
            <a:chOff x="0" y="0"/>
            <a:chExt cx="2340864" cy="8229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340864" cy="822960"/>
            </a:xfrm>
            <a:custGeom>
              <a:avLst/>
              <a:gdLst/>
              <a:ahLst/>
              <a:cxnLst/>
              <a:rect r="r" b="b" t="t" l="l"/>
              <a:pathLst>
                <a:path h="822960" w="2340864">
                  <a:moveTo>
                    <a:pt x="0" y="402336"/>
                  </a:moveTo>
                  <a:cubicBezTo>
                    <a:pt x="0" y="180086"/>
                    <a:pt x="180086" y="0"/>
                    <a:pt x="402336" y="0"/>
                  </a:cubicBezTo>
                  <a:lnTo>
                    <a:pt x="1938528" y="0"/>
                  </a:lnTo>
                  <a:cubicBezTo>
                    <a:pt x="2160778" y="0"/>
                    <a:pt x="2340864" y="180086"/>
                    <a:pt x="2340864" y="402336"/>
                  </a:cubicBezTo>
                  <a:lnTo>
                    <a:pt x="2340864" y="420624"/>
                  </a:lnTo>
                  <a:cubicBezTo>
                    <a:pt x="2340864" y="642874"/>
                    <a:pt x="2160778" y="822960"/>
                    <a:pt x="1938528" y="822960"/>
                  </a:cubicBezTo>
                  <a:lnTo>
                    <a:pt x="402336" y="822960"/>
                  </a:lnTo>
                  <a:cubicBezTo>
                    <a:pt x="180086" y="822960"/>
                    <a:pt x="0" y="642874"/>
                    <a:pt x="0" y="420624"/>
                  </a:cubicBezTo>
                  <a:close/>
                </a:path>
              </a:pathLst>
            </a:custGeom>
            <a:solidFill>
              <a:srgbClr val="C9721A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4676120" y="2921508"/>
            <a:ext cx="1755648" cy="617220"/>
            <a:chOff x="0" y="0"/>
            <a:chExt cx="2340864" cy="8229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340864" cy="822960"/>
            </a:xfrm>
            <a:custGeom>
              <a:avLst/>
              <a:gdLst/>
              <a:ahLst/>
              <a:cxnLst/>
              <a:rect r="r" b="b" t="t" l="l"/>
              <a:pathLst>
                <a:path h="822960" w="2340864">
                  <a:moveTo>
                    <a:pt x="0" y="0"/>
                  </a:moveTo>
                  <a:lnTo>
                    <a:pt x="2340864" y="0"/>
                  </a:lnTo>
                  <a:lnTo>
                    <a:pt x="2340864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424" r="0" b="-5424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2340864" cy="8420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HIGH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822960" y="4320540"/>
            <a:ext cx="8229600" cy="438912"/>
            <a:chOff x="0" y="0"/>
            <a:chExt cx="10972800" cy="58521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972800" cy="585216"/>
            </a:xfrm>
            <a:custGeom>
              <a:avLst/>
              <a:gdLst/>
              <a:ahLst/>
              <a:cxnLst/>
              <a:rect r="r" b="b" t="t" l="l"/>
              <a:pathLst>
                <a:path h="585216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5344" r="0" b="-315344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10972800" cy="6042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>
                  <a:solidFill>
                    <a:srgbClr val="D80E1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Observed response — POST /api/Pricing/validate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822960" y="4869180"/>
            <a:ext cx="7680960" cy="2537460"/>
            <a:chOff x="0" y="0"/>
            <a:chExt cx="10241280" cy="33832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241280" cy="3383280"/>
            </a:xfrm>
            <a:custGeom>
              <a:avLst/>
              <a:gdLst/>
              <a:ahLst/>
              <a:cxnLst/>
              <a:rect r="r" b="b" t="t" l="l"/>
              <a:pathLst>
                <a:path h="3383280" w="10241280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lnTo>
                    <a:pt x="10149840" y="0"/>
                  </a:lnTo>
                  <a:cubicBezTo>
                    <a:pt x="10200386" y="0"/>
                    <a:pt x="10241280" y="40894"/>
                    <a:pt x="10241280" y="91440"/>
                  </a:cubicBezTo>
                  <a:lnTo>
                    <a:pt x="10241280" y="3291840"/>
                  </a:lnTo>
                  <a:cubicBezTo>
                    <a:pt x="10241280" y="3342386"/>
                    <a:pt x="10200386" y="3383280"/>
                    <a:pt x="10149840" y="3383280"/>
                  </a:cubicBezTo>
                  <a:lnTo>
                    <a:pt x="91440" y="3383280"/>
                  </a:lnTo>
                  <a:cubicBezTo>
                    <a:pt x="40894" y="3383280"/>
                    <a:pt x="0" y="3342386"/>
                    <a:pt x="0" y="3291840"/>
                  </a:cubicBezTo>
                  <a:close/>
                </a:path>
              </a:pathLst>
            </a:custGeom>
            <a:solidFill>
              <a:srgbClr val="054E9C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165860" y="5006340"/>
            <a:ext cx="6995160" cy="2263140"/>
            <a:chOff x="0" y="0"/>
            <a:chExt cx="9326880" cy="30175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326880" cy="3017520"/>
            </a:xfrm>
            <a:custGeom>
              <a:avLst/>
              <a:gdLst/>
              <a:ahLst/>
              <a:cxnLst/>
              <a:rect r="r" b="b" t="t" l="l"/>
              <a:pathLst>
                <a:path h="3017520" w="9326880">
                  <a:moveTo>
                    <a:pt x="0" y="0"/>
                  </a:moveTo>
                  <a:lnTo>
                    <a:pt x="9326880" y="0"/>
                  </a:lnTo>
                  <a:lnTo>
                    <a:pt x="9326880" y="3017520"/>
                  </a:lnTo>
                  <a:lnTo>
                    <a:pt x="0" y="3017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226" r="0" b="-10226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28575"/>
              <a:ext cx="9326880" cy="3046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80"/>
                </a:lnSpc>
              </a:pPr>
              <a:r>
                <a:rPr lang="en-US" sz="1725">
                  <a:solidFill>
                    <a:srgbClr val="E8E8E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{</a:t>
              </a:r>
            </a:p>
            <a:p>
              <a:pPr algn="l">
                <a:lnSpc>
                  <a:spcPts val="2380"/>
                </a:lnSpc>
              </a:pPr>
              <a:r>
                <a:rPr lang="en-US" sz="1725">
                  <a:solidFill>
                    <a:srgbClr val="E8E8E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"subtotal": 99.99,</a:t>
              </a:r>
            </a:p>
            <a:p>
              <a:pPr algn="l">
                <a:lnSpc>
                  <a:spcPts val="2380"/>
                </a:lnSpc>
              </a:pPr>
              <a:r>
                <a:rPr lang="en-US" sz="1725">
                  <a:solidFill>
                    <a:srgbClr val="E8E8E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"vatRate": 0.15,</a:t>
              </a:r>
            </a:p>
            <a:p>
              <a:pPr algn="l">
                <a:lnSpc>
                  <a:spcPts val="2380"/>
                </a:lnSpc>
              </a:pPr>
              <a:r>
                <a:rPr lang="en-US" sz="1725">
                  <a:solidFill>
                    <a:srgbClr val="E8E8E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"vatAmount": 14.9985,</a:t>
              </a:r>
            </a:p>
            <a:p>
              <a:pPr algn="l">
                <a:lnSpc>
                  <a:spcPts val="2380"/>
                </a:lnSpc>
              </a:pPr>
              <a:r>
                <a:rPr lang="en-US" sz="1725">
                  <a:solidFill>
                    <a:srgbClr val="E8E8E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"total": 114.9885,</a:t>
              </a:r>
            </a:p>
            <a:p>
              <a:pPr algn="l">
                <a:lnSpc>
                  <a:spcPts val="2380"/>
                </a:lnSpc>
              </a:pPr>
              <a:r>
                <a:rPr lang="en-US" sz="1725">
                  <a:solidFill>
                    <a:srgbClr val="E8E8E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"currency": "ZAR"</a:t>
              </a:r>
            </a:p>
            <a:p>
              <a:pPr algn="l">
                <a:lnSpc>
                  <a:spcPts val="2380"/>
                </a:lnSpc>
              </a:pPr>
              <a:r>
                <a:rPr lang="en-US" sz="1725">
                  <a:solidFill>
                    <a:srgbClr val="E8E8E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}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3131439" y="5950077"/>
            <a:ext cx="1034034" cy="348234"/>
            <a:chOff x="0" y="0"/>
            <a:chExt cx="1378712" cy="46431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378585" cy="464312"/>
            </a:xfrm>
            <a:custGeom>
              <a:avLst/>
              <a:gdLst/>
              <a:ahLst/>
              <a:cxnLst/>
              <a:rect r="r" b="b" t="t" l="l"/>
              <a:pathLst>
                <a:path h="464312" w="1378585">
                  <a:moveTo>
                    <a:pt x="0" y="77343"/>
                  </a:moveTo>
                  <a:cubicBezTo>
                    <a:pt x="0" y="34671"/>
                    <a:pt x="34671" y="0"/>
                    <a:pt x="77343" y="0"/>
                  </a:cubicBezTo>
                  <a:lnTo>
                    <a:pt x="1301242" y="0"/>
                  </a:lnTo>
                  <a:cubicBezTo>
                    <a:pt x="1344041" y="0"/>
                    <a:pt x="1378585" y="34671"/>
                    <a:pt x="1378585" y="77343"/>
                  </a:cubicBezTo>
                  <a:lnTo>
                    <a:pt x="1378585" y="386969"/>
                  </a:lnTo>
                  <a:cubicBezTo>
                    <a:pt x="1378585" y="429768"/>
                    <a:pt x="1343914" y="464312"/>
                    <a:pt x="1301242" y="464312"/>
                  </a:cubicBezTo>
                  <a:lnTo>
                    <a:pt x="77343" y="464312"/>
                  </a:lnTo>
                  <a:cubicBezTo>
                    <a:pt x="34671" y="464312"/>
                    <a:pt x="0" y="429641"/>
                    <a:pt x="0" y="386969"/>
                  </a:cubicBezTo>
                  <a:close/>
                </a:path>
              </a:pathLst>
            </a:custGeom>
            <a:solidFill>
              <a:srgbClr val="D80E13">
                <a:alpha val="12157"/>
              </a:srgbClr>
            </a:solidFill>
            <a:ln w="19050" cap="sq">
              <a:solidFill>
                <a:srgbClr val="C9A227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2596515" y="6265545"/>
            <a:ext cx="1184910" cy="348234"/>
            <a:chOff x="0" y="0"/>
            <a:chExt cx="1579880" cy="46431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579880" cy="464312"/>
            </a:xfrm>
            <a:custGeom>
              <a:avLst/>
              <a:gdLst/>
              <a:ahLst/>
              <a:cxnLst/>
              <a:rect r="r" b="b" t="t" l="l"/>
              <a:pathLst>
                <a:path h="464312" w="1579880">
                  <a:moveTo>
                    <a:pt x="0" y="77343"/>
                  </a:moveTo>
                  <a:cubicBezTo>
                    <a:pt x="0" y="34671"/>
                    <a:pt x="34671" y="0"/>
                    <a:pt x="77343" y="0"/>
                  </a:cubicBezTo>
                  <a:lnTo>
                    <a:pt x="1502537" y="0"/>
                  </a:lnTo>
                  <a:cubicBezTo>
                    <a:pt x="1545336" y="0"/>
                    <a:pt x="1579880" y="34671"/>
                    <a:pt x="1579880" y="77343"/>
                  </a:cubicBezTo>
                  <a:lnTo>
                    <a:pt x="1579880" y="386969"/>
                  </a:lnTo>
                  <a:cubicBezTo>
                    <a:pt x="1579880" y="429768"/>
                    <a:pt x="1545209" y="464312"/>
                    <a:pt x="1502537" y="464312"/>
                  </a:cubicBezTo>
                  <a:lnTo>
                    <a:pt x="77343" y="464312"/>
                  </a:lnTo>
                  <a:cubicBezTo>
                    <a:pt x="34671" y="464312"/>
                    <a:pt x="0" y="429641"/>
                    <a:pt x="0" y="386969"/>
                  </a:cubicBezTo>
                  <a:close/>
                </a:path>
              </a:pathLst>
            </a:custGeom>
            <a:solidFill>
              <a:srgbClr val="D80E13">
                <a:alpha val="12157"/>
              </a:srgbClr>
            </a:solidFill>
            <a:ln w="19050" cap="sq">
              <a:solidFill>
                <a:srgbClr val="C9A227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9464040" y="4320540"/>
            <a:ext cx="7543800" cy="438912"/>
            <a:chOff x="0" y="0"/>
            <a:chExt cx="10058400" cy="58521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058400" cy="585216"/>
            </a:xfrm>
            <a:custGeom>
              <a:avLst/>
              <a:gdLst/>
              <a:ahLst/>
              <a:cxnLst/>
              <a:rect r="r" b="b" t="t" l="l"/>
              <a:pathLst>
                <a:path h="585216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4899" r="0" b="-284899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9050"/>
              <a:ext cx="10058400" cy="6042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>
                  <a:solidFill>
                    <a:srgbClr val="D80E1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Business impact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464040" y="4869180"/>
            <a:ext cx="7543800" cy="2537460"/>
            <a:chOff x="0" y="0"/>
            <a:chExt cx="10058400" cy="338328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058400" cy="3383280"/>
            </a:xfrm>
            <a:custGeom>
              <a:avLst/>
              <a:gdLst/>
              <a:ahLst/>
              <a:cxnLst/>
              <a:rect r="r" b="b" t="t" l="l"/>
              <a:pathLst>
                <a:path h="338328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3383280"/>
                  </a:lnTo>
                  <a:lnTo>
                    <a:pt x="0" y="3383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928" r="0" b="-7928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66675"/>
              <a:ext cx="10058400" cy="3449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37"/>
                </a:lnSpc>
              </a:pPr>
              <a:r>
                <a:rPr lang="en-US" sz="2025">
                  <a:solidFill>
                    <a:srgbClr val="3A3A3A"/>
                  </a:solidFill>
                  <a:latin typeface="Arial"/>
                  <a:ea typeface="Arial"/>
                  <a:cs typeface="Arial"/>
                  <a:sym typeface="Arial"/>
                </a:rPr>
                <a:t>A real invoice cannot display “R114.9885” — this is not a valid currency amount. Left uncorrected, this risks incorrect invoice totals, rounding mismatches against accounting reconciliation, and inconsistent display across the storefront, cart, and checkout.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822960" y="7886700"/>
            <a:ext cx="15224760" cy="685800"/>
            <a:chOff x="0" y="0"/>
            <a:chExt cx="20299680" cy="9144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0299680" cy="914400"/>
            </a:xfrm>
            <a:custGeom>
              <a:avLst/>
              <a:gdLst/>
              <a:ahLst/>
              <a:cxnLst/>
              <a:rect r="r" b="b" t="t" l="l"/>
              <a:pathLst>
                <a:path h="914400" w="20299680">
                  <a:moveTo>
                    <a:pt x="0" y="0"/>
                  </a:moveTo>
                  <a:lnTo>
                    <a:pt x="20299680" y="0"/>
                  </a:lnTo>
                  <a:lnTo>
                    <a:pt x="202996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82567" r="0" b="-382567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19050"/>
              <a:ext cx="2029968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i="true">
                  <a:solidFill>
                    <a:srgbClr val="6B6B6B"/>
                  </a:solidFill>
                  <a:latin typeface="Arial Italics"/>
                  <a:ea typeface="Arial Italics"/>
                  <a:cs typeface="Arial Italics"/>
                  <a:sym typeface="Arial Italics"/>
                </a:rPr>
                <a:t>Recommendation: round Subtotal, VatAmount, and Total to 2 decimal places before the API response is serialized.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822960" y="9710928"/>
            <a:ext cx="8229600" cy="411480"/>
            <a:chOff x="0" y="0"/>
            <a:chExt cx="10972800" cy="5486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19050"/>
              <a:ext cx="109728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0"/>
                </a:lnSpc>
              </a:pPr>
              <a:r>
                <a:rPr lang="en-US" sz="1275">
                  <a:solidFill>
                    <a:srgbClr val="6B6B6B"/>
                  </a:solidFill>
                  <a:latin typeface="Arial"/>
                  <a:ea typeface="Arial"/>
                  <a:cs typeface="Arial"/>
                  <a:sym typeface="Arial"/>
                </a:rPr>
                <a:t>LEWIS-GATEWAY PROJECT 1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6637508" y="9710928"/>
            <a:ext cx="822960" cy="411480"/>
            <a:chOff x="0" y="0"/>
            <a:chExt cx="1097280" cy="54864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09728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19050"/>
              <a:ext cx="109728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6B6B6B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17220"/>
            <a:ext cx="13716000" cy="411480"/>
            <a:chOff x="0" y="0"/>
            <a:chExt cx="182880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548640"/>
            </a:xfrm>
            <a:custGeom>
              <a:avLst/>
              <a:gdLst/>
              <a:ahLst/>
              <a:cxnLst/>
              <a:rect r="r" b="b" t="t" l="l"/>
              <a:pathLst>
                <a:path h="54864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99501" r="0" b="-5995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182880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299">
                  <a:solidFill>
                    <a:srgbClr val="D80E1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LAYER 2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987552"/>
            <a:ext cx="15773400" cy="1097280"/>
            <a:chOff x="0" y="0"/>
            <a:chExt cx="21031200" cy="14630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0312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0097" r="0" b="-230097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10312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232323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Database Layer — Audit Approach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537460"/>
            <a:ext cx="3730752" cy="3497580"/>
            <a:chOff x="0" y="0"/>
            <a:chExt cx="4974336" cy="46634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974336" cy="4663440"/>
            </a:xfrm>
            <a:custGeom>
              <a:avLst/>
              <a:gdLst/>
              <a:ahLst/>
              <a:cxnLst/>
              <a:rect r="r" b="b" t="t" l="l"/>
              <a:pathLst>
                <a:path h="4663440" w="4974336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4828032" y="0"/>
                  </a:lnTo>
                  <a:cubicBezTo>
                    <a:pt x="4908804" y="0"/>
                    <a:pt x="4974336" y="65532"/>
                    <a:pt x="4974336" y="146304"/>
                  </a:cubicBezTo>
                  <a:lnTo>
                    <a:pt x="4974336" y="4517136"/>
                  </a:lnTo>
                  <a:cubicBezTo>
                    <a:pt x="4974336" y="4597908"/>
                    <a:pt x="4908804" y="4663440"/>
                    <a:pt x="4828032" y="4663440"/>
                  </a:cubicBezTo>
                  <a:lnTo>
                    <a:pt x="146304" y="4663440"/>
                  </a:lnTo>
                  <a:cubicBezTo>
                    <a:pt x="65532" y="4663440"/>
                    <a:pt x="0" y="4597908"/>
                    <a:pt x="0" y="4517136"/>
                  </a:cubicBezTo>
                  <a:close/>
                </a:path>
              </a:pathLst>
            </a:custGeom>
            <a:solidFill>
              <a:srgbClr val="054E9C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22960" y="2811780"/>
            <a:ext cx="3730752" cy="1234440"/>
            <a:chOff x="0" y="0"/>
            <a:chExt cx="4974336" cy="16459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974336" cy="1645920"/>
            </a:xfrm>
            <a:custGeom>
              <a:avLst/>
              <a:gdLst/>
              <a:ahLst/>
              <a:cxnLst/>
              <a:rect r="r" b="b" t="t" l="l"/>
              <a:pathLst>
                <a:path h="1645920" w="4974336">
                  <a:moveTo>
                    <a:pt x="0" y="0"/>
                  </a:moveTo>
                  <a:lnTo>
                    <a:pt x="4974336" y="0"/>
                  </a:lnTo>
                  <a:lnTo>
                    <a:pt x="4974336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888" r="0" b="-8888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4974336" cy="1655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b="true" sz="6000">
                  <a:solidFill>
                    <a:srgbClr val="FEFEF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15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28700" y="4114800"/>
            <a:ext cx="3319272" cy="891540"/>
            <a:chOff x="0" y="0"/>
            <a:chExt cx="4425696" cy="11887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425696" cy="1188720"/>
            </a:xfrm>
            <a:custGeom>
              <a:avLst/>
              <a:gdLst/>
              <a:ahLst/>
              <a:cxnLst/>
              <a:rect r="r" b="b" t="t" l="l"/>
              <a:pathLst>
                <a:path h="1188720" w="4425696">
                  <a:moveTo>
                    <a:pt x="0" y="0"/>
                  </a:moveTo>
                  <a:lnTo>
                    <a:pt x="4425696" y="0"/>
                  </a:lnTo>
                  <a:lnTo>
                    <a:pt x="4425696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544" r="0" b="-22544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4425696" cy="1226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76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Stock Reconciliation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28700" y="5033772"/>
            <a:ext cx="3319272" cy="685800"/>
            <a:chOff x="0" y="0"/>
            <a:chExt cx="4425696" cy="914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425696" cy="914400"/>
            </a:xfrm>
            <a:custGeom>
              <a:avLst/>
              <a:gdLst/>
              <a:ahLst/>
              <a:cxnLst/>
              <a:rect r="r" b="b" t="t" l="l"/>
              <a:pathLst>
                <a:path h="914400" w="4425696">
                  <a:moveTo>
                    <a:pt x="0" y="0"/>
                  </a:moveTo>
                  <a:lnTo>
                    <a:pt x="4425696" y="0"/>
                  </a:lnTo>
                  <a:lnTo>
                    <a:pt x="4425696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4307" r="0" b="-44307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28575"/>
              <a:ext cx="4425696" cy="942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1"/>
                </a:lnSpc>
              </a:pPr>
              <a:r>
                <a:rPr lang="en-US" sz="1425">
                  <a:solidFill>
                    <a:srgbClr val="C9C9C9"/>
                  </a:solidFill>
                  <a:latin typeface="Arial"/>
                  <a:ea typeface="Arial"/>
                  <a:cs typeface="Arial"/>
                  <a:sym typeface="Arial"/>
                </a:rPr>
                <a:t>API vs. underlying table counts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28700" y="5692140"/>
            <a:ext cx="3319272" cy="342900"/>
            <a:chOff x="0" y="0"/>
            <a:chExt cx="4425696" cy="4572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425696" cy="457200"/>
            </a:xfrm>
            <a:custGeom>
              <a:avLst/>
              <a:gdLst/>
              <a:ahLst/>
              <a:cxnLst/>
              <a:rect r="r" b="b" t="t" l="l"/>
              <a:pathLst>
                <a:path h="457200" w="4425696">
                  <a:moveTo>
                    <a:pt x="0" y="0"/>
                  </a:moveTo>
                  <a:lnTo>
                    <a:pt x="4425696" y="0"/>
                  </a:lnTo>
                  <a:lnTo>
                    <a:pt x="4425696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8615" r="0" b="-138615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4425696" cy="476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b="true" sz="1350">
                  <a:solidFill>
                    <a:srgbClr val="054E9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P0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4800600" y="2537460"/>
            <a:ext cx="3730752" cy="3497580"/>
            <a:chOff x="0" y="0"/>
            <a:chExt cx="4974336" cy="46634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974336" cy="4663440"/>
            </a:xfrm>
            <a:custGeom>
              <a:avLst/>
              <a:gdLst/>
              <a:ahLst/>
              <a:cxnLst/>
              <a:rect r="r" b="b" t="t" l="l"/>
              <a:pathLst>
                <a:path h="4663440" w="4974336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4828032" y="0"/>
                  </a:lnTo>
                  <a:cubicBezTo>
                    <a:pt x="4908804" y="0"/>
                    <a:pt x="4974336" y="65532"/>
                    <a:pt x="4974336" y="146304"/>
                  </a:cubicBezTo>
                  <a:lnTo>
                    <a:pt x="4974336" y="4517136"/>
                  </a:lnTo>
                  <a:cubicBezTo>
                    <a:pt x="4974336" y="4597908"/>
                    <a:pt x="4908804" y="4663440"/>
                    <a:pt x="4828032" y="4663440"/>
                  </a:cubicBezTo>
                  <a:lnTo>
                    <a:pt x="146304" y="4663440"/>
                  </a:lnTo>
                  <a:cubicBezTo>
                    <a:pt x="65532" y="4663440"/>
                    <a:pt x="0" y="4597908"/>
                    <a:pt x="0" y="4517136"/>
                  </a:cubicBezTo>
                  <a:close/>
                </a:path>
              </a:pathLst>
            </a:custGeom>
            <a:solidFill>
              <a:srgbClr val="054E9C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4799838" y="1314741"/>
            <a:ext cx="3730752" cy="4404831"/>
            <a:chOff x="0" y="0"/>
            <a:chExt cx="4974336" cy="587310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974336" cy="5873107"/>
            </a:xfrm>
            <a:custGeom>
              <a:avLst/>
              <a:gdLst/>
              <a:ahLst/>
              <a:cxnLst/>
              <a:rect r="r" b="b" t="t" l="l"/>
              <a:pathLst>
                <a:path h="5873107" w="4974336">
                  <a:moveTo>
                    <a:pt x="0" y="0"/>
                  </a:moveTo>
                  <a:lnTo>
                    <a:pt x="4974336" y="0"/>
                  </a:lnTo>
                  <a:lnTo>
                    <a:pt x="4974336" y="5873107"/>
                  </a:lnTo>
                  <a:lnTo>
                    <a:pt x="0" y="587310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90" r="0" b="69484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9525"/>
              <a:ext cx="4974336" cy="58826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b="true" sz="6000">
                  <a:solidFill>
                    <a:srgbClr val="FEFEF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15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5006340" y="4114800"/>
            <a:ext cx="3319272" cy="891540"/>
            <a:chOff x="0" y="0"/>
            <a:chExt cx="4425696" cy="118872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425696" cy="1188720"/>
            </a:xfrm>
            <a:custGeom>
              <a:avLst/>
              <a:gdLst/>
              <a:ahLst/>
              <a:cxnLst/>
              <a:rect r="r" b="b" t="t" l="l"/>
              <a:pathLst>
                <a:path h="1188720" w="4425696">
                  <a:moveTo>
                    <a:pt x="0" y="0"/>
                  </a:moveTo>
                  <a:lnTo>
                    <a:pt x="4425696" y="0"/>
                  </a:lnTo>
                  <a:lnTo>
                    <a:pt x="4425696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544" r="0" b="-22544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4425696" cy="1226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76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Pricing Audit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5006340" y="5033772"/>
            <a:ext cx="3319272" cy="685800"/>
            <a:chOff x="0" y="0"/>
            <a:chExt cx="4425696" cy="9144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425696" cy="914400"/>
            </a:xfrm>
            <a:custGeom>
              <a:avLst/>
              <a:gdLst/>
              <a:ahLst/>
              <a:cxnLst/>
              <a:rect r="r" b="b" t="t" l="l"/>
              <a:pathLst>
                <a:path h="914400" w="4425696">
                  <a:moveTo>
                    <a:pt x="0" y="0"/>
                  </a:moveTo>
                  <a:lnTo>
                    <a:pt x="4425696" y="0"/>
                  </a:lnTo>
                  <a:lnTo>
                    <a:pt x="4425696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4307" r="0" b="-44307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28575"/>
              <a:ext cx="4425696" cy="942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1"/>
                </a:lnSpc>
              </a:pPr>
              <a:r>
                <a:rPr lang="en-US" sz="1425">
                  <a:solidFill>
                    <a:srgbClr val="C9C9C9"/>
                  </a:solidFill>
                  <a:latin typeface="Arial"/>
                  <a:ea typeface="Arial"/>
                  <a:cs typeface="Arial"/>
                  <a:sym typeface="Arial"/>
                </a:rPr>
                <a:t>Multi-table joins vs. billing rules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5006340" y="5692140"/>
            <a:ext cx="3319272" cy="342900"/>
            <a:chOff x="0" y="0"/>
            <a:chExt cx="4425696" cy="4572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425696" cy="457200"/>
            </a:xfrm>
            <a:custGeom>
              <a:avLst/>
              <a:gdLst/>
              <a:ahLst/>
              <a:cxnLst/>
              <a:rect r="r" b="b" t="t" l="l"/>
              <a:pathLst>
                <a:path h="457200" w="4425696">
                  <a:moveTo>
                    <a:pt x="0" y="0"/>
                  </a:moveTo>
                  <a:lnTo>
                    <a:pt x="4425696" y="0"/>
                  </a:lnTo>
                  <a:lnTo>
                    <a:pt x="4425696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8615" r="0" b="-138615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19050"/>
              <a:ext cx="4425696" cy="476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b="true" sz="1350">
                  <a:solidFill>
                    <a:srgbClr val="054E9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P0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8778240" y="2537460"/>
            <a:ext cx="3730752" cy="3497580"/>
            <a:chOff x="0" y="0"/>
            <a:chExt cx="4974336" cy="466344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974336" cy="4663440"/>
            </a:xfrm>
            <a:custGeom>
              <a:avLst/>
              <a:gdLst/>
              <a:ahLst/>
              <a:cxnLst/>
              <a:rect r="r" b="b" t="t" l="l"/>
              <a:pathLst>
                <a:path h="4663440" w="4974336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4828032" y="0"/>
                  </a:lnTo>
                  <a:cubicBezTo>
                    <a:pt x="4908804" y="0"/>
                    <a:pt x="4974336" y="65532"/>
                    <a:pt x="4974336" y="146304"/>
                  </a:cubicBezTo>
                  <a:lnTo>
                    <a:pt x="4974336" y="4517136"/>
                  </a:lnTo>
                  <a:cubicBezTo>
                    <a:pt x="4974336" y="4597908"/>
                    <a:pt x="4908804" y="4663440"/>
                    <a:pt x="4828032" y="4663440"/>
                  </a:cubicBezTo>
                  <a:lnTo>
                    <a:pt x="146304" y="4663440"/>
                  </a:lnTo>
                  <a:cubicBezTo>
                    <a:pt x="65532" y="4663440"/>
                    <a:pt x="0" y="4597908"/>
                    <a:pt x="0" y="4517136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8778240" y="2811780"/>
            <a:ext cx="3730752" cy="1234440"/>
            <a:chOff x="0" y="0"/>
            <a:chExt cx="4974336" cy="164592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974336" cy="1645920"/>
            </a:xfrm>
            <a:custGeom>
              <a:avLst/>
              <a:gdLst/>
              <a:ahLst/>
              <a:cxnLst/>
              <a:rect r="r" b="b" t="t" l="l"/>
              <a:pathLst>
                <a:path h="1645920" w="4974336">
                  <a:moveTo>
                    <a:pt x="0" y="0"/>
                  </a:moveTo>
                  <a:lnTo>
                    <a:pt x="4974336" y="0"/>
                  </a:lnTo>
                  <a:lnTo>
                    <a:pt x="4974336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888" r="0" b="-8888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9525"/>
              <a:ext cx="4974336" cy="1655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b="true" sz="6000">
                  <a:solidFill>
                    <a:srgbClr val="D80E13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10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8983980" y="4114800"/>
            <a:ext cx="3319272" cy="891540"/>
            <a:chOff x="0" y="0"/>
            <a:chExt cx="4425696" cy="118872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425696" cy="1188720"/>
            </a:xfrm>
            <a:custGeom>
              <a:avLst/>
              <a:gdLst/>
              <a:ahLst/>
              <a:cxnLst/>
              <a:rect r="r" b="b" t="t" l="l"/>
              <a:pathLst>
                <a:path h="1188720" w="4425696">
                  <a:moveTo>
                    <a:pt x="0" y="0"/>
                  </a:moveTo>
                  <a:lnTo>
                    <a:pt x="4425696" y="0"/>
                  </a:lnTo>
                  <a:lnTo>
                    <a:pt x="4425696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544" r="0" b="-22544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4425696" cy="1226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76"/>
                </a:lnSpc>
              </a:pPr>
              <a:r>
                <a:rPr lang="en-US" sz="1800" b="true">
                  <a:solidFill>
                    <a:srgbClr val="23232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Data Hygiene &amp; Constraints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8983980" y="5033772"/>
            <a:ext cx="3319272" cy="685800"/>
            <a:chOff x="0" y="0"/>
            <a:chExt cx="4425696" cy="9144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425696" cy="914400"/>
            </a:xfrm>
            <a:custGeom>
              <a:avLst/>
              <a:gdLst/>
              <a:ahLst/>
              <a:cxnLst/>
              <a:rect r="r" b="b" t="t" l="l"/>
              <a:pathLst>
                <a:path h="914400" w="4425696">
                  <a:moveTo>
                    <a:pt x="0" y="0"/>
                  </a:moveTo>
                  <a:lnTo>
                    <a:pt x="4425696" y="0"/>
                  </a:lnTo>
                  <a:lnTo>
                    <a:pt x="4425696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4307" r="0" b="-44307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28575"/>
              <a:ext cx="4425696" cy="942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1"/>
                </a:lnSpc>
              </a:pPr>
              <a:r>
                <a:rPr lang="en-US" sz="1425">
                  <a:solidFill>
                    <a:srgbClr val="6B6B6B"/>
                  </a:solidFill>
                  <a:latin typeface="Arial"/>
                  <a:ea typeface="Arial"/>
                  <a:cs typeface="Arial"/>
                  <a:sym typeface="Arial"/>
                </a:rPr>
                <a:t>Duplicate SKUs, negative costs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8983980" y="5692140"/>
            <a:ext cx="3319272" cy="342900"/>
            <a:chOff x="0" y="0"/>
            <a:chExt cx="4425696" cy="4572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425696" cy="457200"/>
            </a:xfrm>
            <a:custGeom>
              <a:avLst/>
              <a:gdLst/>
              <a:ahLst/>
              <a:cxnLst/>
              <a:rect r="r" b="b" t="t" l="l"/>
              <a:pathLst>
                <a:path h="457200" w="4425696">
                  <a:moveTo>
                    <a:pt x="0" y="0"/>
                  </a:moveTo>
                  <a:lnTo>
                    <a:pt x="4425696" y="0"/>
                  </a:lnTo>
                  <a:lnTo>
                    <a:pt x="4425696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8615" r="0" b="-138615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19050"/>
              <a:ext cx="4425696" cy="476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b="true" sz="1350">
                  <a:solidFill>
                    <a:srgbClr val="D80E1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P1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2755880" y="2537460"/>
            <a:ext cx="3730752" cy="3497580"/>
            <a:chOff x="0" y="0"/>
            <a:chExt cx="4974336" cy="46634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974336" cy="4663440"/>
            </a:xfrm>
            <a:custGeom>
              <a:avLst/>
              <a:gdLst/>
              <a:ahLst/>
              <a:cxnLst/>
              <a:rect r="r" b="b" t="t" l="l"/>
              <a:pathLst>
                <a:path h="4663440" w="4974336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4828032" y="0"/>
                  </a:lnTo>
                  <a:cubicBezTo>
                    <a:pt x="4908804" y="0"/>
                    <a:pt x="4974336" y="65532"/>
                    <a:pt x="4974336" y="146304"/>
                  </a:cubicBezTo>
                  <a:lnTo>
                    <a:pt x="4974336" y="4517136"/>
                  </a:lnTo>
                  <a:cubicBezTo>
                    <a:pt x="4974336" y="4597908"/>
                    <a:pt x="4908804" y="4663440"/>
                    <a:pt x="4828032" y="4663440"/>
                  </a:cubicBezTo>
                  <a:lnTo>
                    <a:pt x="146304" y="4663440"/>
                  </a:lnTo>
                  <a:cubicBezTo>
                    <a:pt x="65532" y="4663440"/>
                    <a:pt x="0" y="4597908"/>
                    <a:pt x="0" y="4517136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2755880" y="2811780"/>
            <a:ext cx="3730752" cy="1234440"/>
            <a:chOff x="0" y="0"/>
            <a:chExt cx="4974336" cy="164592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4974336" cy="1645920"/>
            </a:xfrm>
            <a:custGeom>
              <a:avLst/>
              <a:gdLst/>
              <a:ahLst/>
              <a:cxnLst/>
              <a:rect r="r" b="b" t="t" l="l"/>
              <a:pathLst>
                <a:path h="1645920" w="4974336">
                  <a:moveTo>
                    <a:pt x="0" y="0"/>
                  </a:moveTo>
                  <a:lnTo>
                    <a:pt x="4974336" y="0"/>
                  </a:lnTo>
                  <a:lnTo>
                    <a:pt x="4974336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888" r="0" b="-8888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9525"/>
              <a:ext cx="4974336" cy="1655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b="true" sz="6000">
                  <a:solidFill>
                    <a:srgbClr val="D80E13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10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2961620" y="4114800"/>
            <a:ext cx="3319272" cy="891540"/>
            <a:chOff x="0" y="0"/>
            <a:chExt cx="4425696" cy="118872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4425696" cy="1188720"/>
            </a:xfrm>
            <a:custGeom>
              <a:avLst/>
              <a:gdLst/>
              <a:ahLst/>
              <a:cxnLst/>
              <a:rect r="r" b="b" t="t" l="l"/>
              <a:pathLst>
                <a:path h="1188720" w="4425696">
                  <a:moveTo>
                    <a:pt x="0" y="0"/>
                  </a:moveTo>
                  <a:lnTo>
                    <a:pt x="4425696" y="0"/>
                  </a:lnTo>
                  <a:lnTo>
                    <a:pt x="4425696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544" r="0" b="-22544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4425696" cy="1226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76"/>
                </a:lnSpc>
              </a:pPr>
              <a:r>
                <a:rPr lang="en-US" sz="1800" b="true">
                  <a:solidFill>
                    <a:srgbClr val="23232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Business Intelligence Reports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2961620" y="5033772"/>
            <a:ext cx="3319272" cy="685800"/>
            <a:chOff x="0" y="0"/>
            <a:chExt cx="4425696" cy="9144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4425696" cy="914400"/>
            </a:xfrm>
            <a:custGeom>
              <a:avLst/>
              <a:gdLst/>
              <a:ahLst/>
              <a:cxnLst/>
              <a:rect r="r" b="b" t="t" l="l"/>
              <a:pathLst>
                <a:path h="914400" w="4425696">
                  <a:moveTo>
                    <a:pt x="0" y="0"/>
                  </a:moveTo>
                  <a:lnTo>
                    <a:pt x="4425696" y="0"/>
                  </a:lnTo>
                  <a:lnTo>
                    <a:pt x="4425696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4307" r="0" b="-44307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28575"/>
              <a:ext cx="4425696" cy="942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1"/>
                </a:lnSpc>
              </a:pPr>
              <a:r>
                <a:rPr lang="en-US" sz="1425">
                  <a:solidFill>
                    <a:srgbClr val="6B6B6B"/>
                  </a:solidFill>
                  <a:latin typeface="Arial"/>
                  <a:ea typeface="Arial"/>
                  <a:cs typeface="Arial"/>
                  <a:sym typeface="Arial"/>
                </a:rPr>
                <a:t>Top sellers, dead stock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2961620" y="5692140"/>
            <a:ext cx="3319272" cy="342900"/>
            <a:chOff x="0" y="0"/>
            <a:chExt cx="4425696" cy="45720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4425696" cy="457200"/>
            </a:xfrm>
            <a:custGeom>
              <a:avLst/>
              <a:gdLst/>
              <a:ahLst/>
              <a:cxnLst/>
              <a:rect r="r" b="b" t="t" l="l"/>
              <a:pathLst>
                <a:path h="457200" w="4425696">
                  <a:moveTo>
                    <a:pt x="0" y="0"/>
                  </a:moveTo>
                  <a:lnTo>
                    <a:pt x="4425696" y="0"/>
                  </a:lnTo>
                  <a:lnTo>
                    <a:pt x="4425696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8615" r="0" b="-138615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19050"/>
              <a:ext cx="4425696" cy="476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b="true" sz="1350">
                  <a:solidFill>
                    <a:srgbClr val="D80E1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P2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822960" y="6515100"/>
            <a:ext cx="2194560" cy="960120"/>
            <a:chOff x="0" y="0"/>
            <a:chExt cx="2926080" cy="128016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292608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132" t="0" r="-6132" b="0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9525"/>
              <a:ext cx="292608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b="true" sz="5400">
                  <a:solidFill>
                    <a:srgbClr val="D80E13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50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2880360" y="6693408"/>
            <a:ext cx="6858000" cy="754380"/>
            <a:chOff x="0" y="0"/>
            <a:chExt cx="9144000" cy="100584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91440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7136" r="0" b="-127136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47625"/>
              <a:ext cx="9144000" cy="1053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83"/>
                </a:lnSpc>
              </a:pPr>
              <a:r>
                <a:rPr lang="en-US" sz="1800">
                  <a:solidFill>
                    <a:srgbClr val="6B6B6B"/>
                  </a:solidFill>
                  <a:latin typeface="Arial"/>
                  <a:ea typeface="Arial"/>
                  <a:cs typeface="Arial"/>
                  <a:sym typeface="Arial"/>
                </a:rPr>
                <a:t>T-SQL scripts total, run against LewisStoresDb (SQL Server)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822960" y="7749540"/>
            <a:ext cx="15224760" cy="1234440"/>
            <a:chOff x="0" y="0"/>
            <a:chExt cx="20299680" cy="164592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202996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0299680">
                  <a:moveTo>
                    <a:pt x="0" y="0"/>
                  </a:moveTo>
                  <a:lnTo>
                    <a:pt x="20299680" y="0"/>
                  </a:lnTo>
                  <a:lnTo>
                    <a:pt x="202996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0315" r="0" b="-190315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76200"/>
              <a:ext cx="20299680" cy="17221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1875" i="true">
                  <a:solidFill>
                    <a:srgbClr val="3A3A3A"/>
                  </a:solidFill>
                  <a:latin typeface="Arial Italics"/>
                  <a:ea typeface="Arial Italics"/>
                  <a:cs typeface="Arial Italics"/>
                  <a:sym typeface="Arial Italics"/>
                </a:rPr>
                <a:t>Discovery-driven: we confirmed the real Orders.Status values, the AuditLogs event-type convention, and the actual format of Orders.Items via live queries before finalizing the audit scripts — several assumptions from Swagger alone turned out to be wrong.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822960" y="9710928"/>
            <a:ext cx="8229600" cy="411480"/>
            <a:chOff x="0" y="0"/>
            <a:chExt cx="10972800" cy="54864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19050"/>
              <a:ext cx="109728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0"/>
                </a:lnSpc>
              </a:pPr>
              <a:r>
                <a:rPr lang="en-US" sz="1275">
                  <a:solidFill>
                    <a:srgbClr val="6B6B6B"/>
                  </a:solidFill>
                  <a:latin typeface="Arial"/>
                  <a:ea typeface="Arial"/>
                  <a:cs typeface="Arial"/>
                  <a:sym typeface="Arial"/>
                </a:rPr>
                <a:t>LEWIS-GATEWAY PROJECT 1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16637508" y="9710928"/>
            <a:ext cx="822960" cy="411480"/>
            <a:chOff x="0" y="0"/>
            <a:chExt cx="1097280" cy="54864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109728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19050"/>
              <a:ext cx="109728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6B6B6B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17220"/>
            <a:ext cx="13716000" cy="411480"/>
            <a:chOff x="0" y="0"/>
            <a:chExt cx="182880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548640"/>
            </a:xfrm>
            <a:custGeom>
              <a:avLst/>
              <a:gdLst/>
              <a:ahLst/>
              <a:cxnLst/>
              <a:rect r="r" b="b" t="t" l="l"/>
              <a:pathLst>
                <a:path h="54864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99501" r="0" b="-5995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182880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299">
                  <a:solidFill>
                    <a:srgbClr val="D80E1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FINDINGS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987552"/>
            <a:ext cx="15773400" cy="1097280"/>
            <a:chOff x="0" y="0"/>
            <a:chExt cx="21031200" cy="14630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0312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0097" r="0" b="-230097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10312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232323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Defect Log — Critical &amp; High Severity</a:t>
              </a:r>
            </a:p>
          </p:txBody>
        </p:sp>
      </p:grpSp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822960" y="2537460"/>
          <a:ext cx="16573500" cy="5715000"/>
        </p:xfrm>
        <a:graphic>
          <a:graphicData uri="http://schemas.openxmlformats.org/drawingml/2006/table">
            <a:tbl>
              <a:tblPr/>
              <a:tblGrid>
                <a:gridCol w="1315178"/>
                <a:gridCol w="1450647"/>
                <a:gridCol w="4295495"/>
                <a:gridCol w="1586116"/>
                <a:gridCol w="7926064"/>
              </a:tblGrid>
              <a:tr h="14287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ID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4E9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Layer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4E9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Finding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4E9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Severity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4E9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Business Risk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4E9C"/>
                    </a:solidFill>
                  </a:tcPr>
                </a:tc>
              </a:tr>
              <a:tr h="14287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 b="true">
                          <a:solidFill>
                            <a:srgbClr val="232323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DB-01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6B6B6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Database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 stock/inventory audit trail exists in AuditLogs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CRITICAL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0E1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3A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Cannot trace who changed stock, when, or why. No accountability for shrinkage, fraud, or error investigation — a foundational control gap.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4287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 b="true">
                          <a:solidFill>
                            <a:srgbClr val="232323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DB-02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6B6B6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Database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 CHECK constraints on StockQuantity, Price, or Rating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HIGH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21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3A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 bug or direct database write can silently corrupt stock or pricing data — nothing at the database layer prevents negative or invalid values.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14287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 b="true">
                          <a:solidFill>
                            <a:srgbClr val="232323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DB-03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6B6B6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Database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VAT is never persisted anywhere in the schema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HIGH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21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3A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Historical orders cannot be audited for correct tax treatment — a compliance risk for tax/SARS reporting and financial reconciliation.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name="Group 9" id="9"/>
          <p:cNvGrpSpPr/>
          <p:nvPr/>
        </p:nvGrpSpPr>
        <p:grpSpPr>
          <a:xfrm rot="0">
            <a:off x="822960" y="9710928"/>
            <a:ext cx="8229600" cy="411480"/>
            <a:chOff x="0" y="0"/>
            <a:chExt cx="10972800" cy="5486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109728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0"/>
                </a:lnSpc>
              </a:pPr>
              <a:r>
                <a:rPr lang="en-US" sz="1275">
                  <a:solidFill>
                    <a:srgbClr val="6B6B6B"/>
                  </a:solidFill>
                  <a:latin typeface="Arial"/>
                  <a:ea typeface="Arial"/>
                  <a:cs typeface="Arial"/>
                  <a:sym typeface="Arial"/>
                </a:rPr>
                <a:t>LEWIS-GATEWAY PROJECT 1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6637508" y="9710928"/>
            <a:ext cx="822960" cy="411480"/>
            <a:chOff x="0" y="0"/>
            <a:chExt cx="1097280" cy="5486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9728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109728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6B6B6B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17220"/>
            <a:ext cx="13716000" cy="411480"/>
            <a:chOff x="0" y="0"/>
            <a:chExt cx="182880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548640"/>
            </a:xfrm>
            <a:custGeom>
              <a:avLst/>
              <a:gdLst/>
              <a:ahLst/>
              <a:cxnLst/>
              <a:rect r="r" b="b" t="t" l="l"/>
              <a:pathLst>
                <a:path h="54864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99501" r="0" b="-5995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182880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299">
                  <a:solidFill>
                    <a:srgbClr val="D80E1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FINDINGS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987552"/>
            <a:ext cx="15773400" cy="1097280"/>
            <a:chOff x="0" y="0"/>
            <a:chExt cx="21031200" cy="14630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0312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0097" r="0" b="-230097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10312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232323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Defect Log — Medium &amp; Low Severity</a:t>
              </a:r>
            </a:p>
          </p:txBody>
        </p:sp>
      </p:grpSp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822960" y="2537460"/>
          <a:ext cx="16573500" cy="7143750"/>
        </p:xfrm>
        <a:graphic>
          <a:graphicData uri="http://schemas.openxmlformats.org/drawingml/2006/table">
            <a:tbl>
              <a:tblPr/>
              <a:tblGrid>
                <a:gridCol w="1315178"/>
                <a:gridCol w="1450647"/>
                <a:gridCol w="4295495"/>
                <a:gridCol w="1586116"/>
                <a:gridCol w="7926064"/>
              </a:tblGrid>
              <a:tr h="14287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ID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4E9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Layer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4E9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Finding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4E9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Severity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4E9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Business Risk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4E9C"/>
                    </a:solidFill>
                  </a:tcPr>
                </a:tc>
              </a:tr>
              <a:tr h="14287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 b="true">
                          <a:solidFill>
                            <a:srgbClr val="232323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API-01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6B6B6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API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VAT and total amounts returned unrounded (4 decimal places)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MEDIUM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6B7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3A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Risk of incorrect invoice display and mismatches during accounting reconciliation.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4287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 b="true">
                          <a:solidFill>
                            <a:srgbClr val="232323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DB-04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6B6B6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Database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Orders.Items free text duplicates the OrderItems table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MEDIUM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6B7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3A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Two representations of the same order can silently drift apart over time, with no way to detect it.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14287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 b="true">
                          <a:solidFill>
                            <a:srgbClr val="232323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DB-05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6B6B6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Database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CartItems table has no UserId column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MEDIUM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6B7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3A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Carts cannot be attributed to a specific customer at the database level, complicating recovery and analytics.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4287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 b="true">
                          <a:solidFill>
                            <a:srgbClr val="232323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DB-06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6B6B6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Database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Orders.Date stored as free text, not a real date type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LOW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8F7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3A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Unreliable date-based reporting; malformed date values can enter the system undetected.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grpSp>
        <p:nvGrpSpPr>
          <p:cNvPr name="Group 9" id="9"/>
          <p:cNvGrpSpPr/>
          <p:nvPr/>
        </p:nvGrpSpPr>
        <p:grpSpPr>
          <a:xfrm rot="0">
            <a:off x="822960" y="9710928"/>
            <a:ext cx="8229600" cy="411480"/>
            <a:chOff x="0" y="0"/>
            <a:chExt cx="10972800" cy="5486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109728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0"/>
                </a:lnSpc>
              </a:pPr>
              <a:r>
                <a:rPr lang="en-US" sz="1275">
                  <a:solidFill>
                    <a:srgbClr val="6B6B6B"/>
                  </a:solidFill>
                  <a:latin typeface="Arial"/>
                  <a:ea typeface="Arial"/>
                  <a:cs typeface="Arial"/>
                  <a:sym typeface="Arial"/>
                </a:rPr>
                <a:t>LEWIS-GATEWAY PROJECT 1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6637508" y="9710928"/>
            <a:ext cx="822960" cy="411480"/>
            <a:chOff x="0" y="0"/>
            <a:chExt cx="1097280" cy="5486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9728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109728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6B6B6B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17220"/>
            <a:ext cx="13716000" cy="411480"/>
            <a:chOff x="0" y="0"/>
            <a:chExt cx="182880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548640"/>
            </a:xfrm>
            <a:custGeom>
              <a:avLst/>
              <a:gdLst/>
              <a:ahLst/>
              <a:cxnLst/>
              <a:rect r="r" b="b" t="t" l="l"/>
              <a:pathLst>
                <a:path h="54864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99501" r="0" b="-5995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182880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299">
                  <a:solidFill>
                    <a:srgbClr val="D80E1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BUSINESS RISK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987552"/>
            <a:ext cx="15773400" cy="1097280"/>
            <a:chOff x="0" y="0"/>
            <a:chExt cx="21031200" cy="14630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0312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0097" r="0" b="-230097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10312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232323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Business Risk — By Category</a:t>
              </a:r>
            </a:p>
          </p:txBody>
        </p:sp>
      </p:grpSp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822960" y="2537460"/>
          <a:ext cx="16573500" cy="7143750"/>
        </p:xfrm>
        <a:graphic>
          <a:graphicData uri="http://schemas.openxmlformats.org/drawingml/2006/table">
            <a:tbl>
              <a:tblPr/>
              <a:tblGrid>
                <a:gridCol w="1315178"/>
                <a:gridCol w="1450647"/>
                <a:gridCol w="4295495"/>
                <a:gridCol w="1586116"/>
                <a:gridCol w="7926064"/>
              </a:tblGrid>
              <a:tr h="14287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ID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4E9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Category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4E9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Risk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4E9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Severity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4E9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Why It Matters to Lewis Group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4E9C"/>
                    </a:solidFill>
                  </a:tcPr>
                </a:tc>
              </a:tr>
              <a:tr h="14287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 b="true">
                          <a:solidFill>
                            <a:srgbClr val="232323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RISK-01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6B6B6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Fraud &amp; Loss Prevention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 traceable record of stock changes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CRITICAL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0E1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3A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Stock can be silently manipulated with no way to detect, attribute, or prove it — undermining internal fraud and shrinkage investigations.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4287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 b="true">
                          <a:solidFill>
                            <a:srgbClr val="232323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RISK-02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6B6B6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Tax &amp; Regulatory Compliance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VAT and order dates not reliably auditable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HIGH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21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3A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Historical VAT treatment can't be reconstructed and unreliable date data threatens revenue-period reporting — direct exposure in a SARS audit.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14287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 b="true">
                          <a:solidFill>
                            <a:srgbClr val="232323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RISK-03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6B6B6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Financial Reporting Accuracy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Unrounded totals &amp; duplicate order-item records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HIGH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21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3A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Charged and recorded amounts can silently diverge at scale, and two conflicting order records complicate dispute and chargeback resolution.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4287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 b="true">
                          <a:solidFill>
                            <a:srgbClr val="232323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RISK-04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6B6B6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Data Integrity &amp; Customer Trust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 DB-level constraints; carts not user-scoped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MEDIUM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6B7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3A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Invalid stock or pricing values can enter undetected, and cart data cannot be reliably attributed to a customer, undermining BI and recovery.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grpSp>
        <p:nvGrpSpPr>
          <p:cNvPr name="Group 9" id="9"/>
          <p:cNvGrpSpPr/>
          <p:nvPr/>
        </p:nvGrpSpPr>
        <p:grpSpPr>
          <a:xfrm rot="0">
            <a:off x="822960" y="9710928"/>
            <a:ext cx="8229600" cy="411480"/>
            <a:chOff x="0" y="0"/>
            <a:chExt cx="10972800" cy="5486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109728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0"/>
                </a:lnSpc>
              </a:pPr>
              <a:r>
                <a:rPr lang="en-US" sz="1275">
                  <a:solidFill>
                    <a:srgbClr val="6B6B6B"/>
                  </a:solidFill>
                  <a:latin typeface="Arial"/>
                  <a:ea typeface="Arial"/>
                  <a:cs typeface="Arial"/>
                  <a:sym typeface="Arial"/>
                </a:rPr>
                <a:t>LEWIS-GATEWAY PROJECT 1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6637508" y="9710928"/>
            <a:ext cx="822960" cy="411480"/>
            <a:chOff x="0" y="0"/>
            <a:chExt cx="1097280" cy="5486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9728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109728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6B6B6B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17220"/>
            <a:ext cx="13716000" cy="411480"/>
            <a:chOff x="0" y="0"/>
            <a:chExt cx="182880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548640"/>
            </a:xfrm>
            <a:custGeom>
              <a:avLst/>
              <a:gdLst/>
              <a:ahLst/>
              <a:cxnLst/>
              <a:rect r="r" b="b" t="t" l="l"/>
              <a:pathLst>
                <a:path h="54864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99501" r="0" b="-5995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182880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299">
                  <a:solidFill>
                    <a:srgbClr val="D80E1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BUSINESS RISK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987552"/>
            <a:ext cx="15773400" cy="1097280"/>
            <a:chOff x="0" y="0"/>
            <a:chExt cx="21031200" cy="14630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0312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0097" r="0" b="-230097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10312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232323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Business Risk — Bottom Line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537460"/>
            <a:ext cx="15265908" cy="1371600"/>
            <a:chOff x="0" y="0"/>
            <a:chExt cx="20354544" cy="1828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354544" cy="1828800"/>
            </a:xfrm>
            <a:custGeom>
              <a:avLst/>
              <a:gdLst/>
              <a:ahLst/>
              <a:cxnLst/>
              <a:rect r="r" b="b" t="t" l="l"/>
              <a:pathLst>
                <a:path h="1828800" w="20354544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20244815" y="0"/>
                  </a:lnTo>
                  <a:cubicBezTo>
                    <a:pt x="20305395" y="0"/>
                    <a:pt x="20354544" y="49149"/>
                    <a:pt x="20354544" y="109728"/>
                  </a:cubicBezTo>
                  <a:lnTo>
                    <a:pt x="20354544" y="1719072"/>
                  </a:lnTo>
                  <a:cubicBezTo>
                    <a:pt x="20354544" y="1779651"/>
                    <a:pt x="20305395" y="1828800"/>
                    <a:pt x="20244815" y="1828800"/>
                  </a:cubicBezTo>
                  <a:lnTo>
                    <a:pt x="109728" y="1828800"/>
                  </a:lnTo>
                  <a:cubicBezTo>
                    <a:pt x="49149" y="1828800"/>
                    <a:pt x="0" y="1779651"/>
                    <a:pt x="0" y="1719072"/>
                  </a:cubicBezTo>
                  <a:close/>
                </a:path>
              </a:pathLst>
            </a:custGeom>
            <a:solidFill>
              <a:srgbClr val="FDF2E9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303020" y="2537460"/>
            <a:ext cx="12618720" cy="1371600"/>
            <a:chOff x="0" y="0"/>
            <a:chExt cx="16824960" cy="1828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6824961" cy="1828800"/>
            </a:xfrm>
            <a:custGeom>
              <a:avLst/>
              <a:gdLst/>
              <a:ahLst/>
              <a:cxnLst/>
              <a:rect r="r" b="b" t="t" l="l"/>
              <a:pathLst>
                <a:path h="1828800" w="16824961">
                  <a:moveTo>
                    <a:pt x="0" y="0"/>
                  </a:moveTo>
                  <a:lnTo>
                    <a:pt x="16824961" y="0"/>
                  </a:lnTo>
                  <a:lnTo>
                    <a:pt x="16824961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9262" r="0" b="-12926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16824960" cy="1847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23232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Not isolated bugs — they sit beneath Lewis Group’s core numbers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4676120" y="2921508"/>
            <a:ext cx="1755648" cy="617220"/>
            <a:chOff x="0" y="0"/>
            <a:chExt cx="2340864" cy="8229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340864" cy="822960"/>
            </a:xfrm>
            <a:custGeom>
              <a:avLst/>
              <a:gdLst/>
              <a:ahLst/>
              <a:cxnLst/>
              <a:rect r="r" b="b" t="t" l="l"/>
              <a:pathLst>
                <a:path h="822960" w="2340864">
                  <a:moveTo>
                    <a:pt x="0" y="402336"/>
                  </a:moveTo>
                  <a:cubicBezTo>
                    <a:pt x="0" y="180086"/>
                    <a:pt x="180086" y="0"/>
                    <a:pt x="402336" y="0"/>
                  </a:cubicBezTo>
                  <a:lnTo>
                    <a:pt x="1938528" y="0"/>
                  </a:lnTo>
                  <a:cubicBezTo>
                    <a:pt x="2160778" y="0"/>
                    <a:pt x="2340864" y="180086"/>
                    <a:pt x="2340864" y="402336"/>
                  </a:cubicBezTo>
                  <a:lnTo>
                    <a:pt x="2340864" y="420624"/>
                  </a:lnTo>
                  <a:cubicBezTo>
                    <a:pt x="2340864" y="642874"/>
                    <a:pt x="2160778" y="822960"/>
                    <a:pt x="1938528" y="822960"/>
                  </a:cubicBezTo>
                  <a:lnTo>
                    <a:pt x="402336" y="822960"/>
                  </a:lnTo>
                  <a:cubicBezTo>
                    <a:pt x="180086" y="822960"/>
                    <a:pt x="0" y="642874"/>
                    <a:pt x="0" y="420624"/>
                  </a:cubicBezTo>
                  <a:close/>
                </a:path>
              </a:pathLst>
            </a:custGeom>
            <a:solidFill>
              <a:srgbClr val="D80E13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4676120" y="2921508"/>
            <a:ext cx="1755648" cy="617220"/>
            <a:chOff x="0" y="0"/>
            <a:chExt cx="2340864" cy="8229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340864" cy="822960"/>
            </a:xfrm>
            <a:custGeom>
              <a:avLst/>
              <a:gdLst/>
              <a:ahLst/>
              <a:cxnLst/>
              <a:rect r="r" b="b" t="t" l="l"/>
              <a:pathLst>
                <a:path h="822960" w="2340864">
                  <a:moveTo>
                    <a:pt x="0" y="0"/>
                  </a:moveTo>
                  <a:lnTo>
                    <a:pt x="2340864" y="0"/>
                  </a:lnTo>
                  <a:lnTo>
                    <a:pt x="2340864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424" r="0" b="-5424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2340864" cy="8420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4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CRITICAL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822960" y="4320540"/>
            <a:ext cx="8229600" cy="438912"/>
            <a:chOff x="0" y="0"/>
            <a:chExt cx="10972800" cy="58521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972800" cy="585216"/>
            </a:xfrm>
            <a:custGeom>
              <a:avLst/>
              <a:gdLst/>
              <a:ahLst/>
              <a:cxnLst/>
              <a:rect r="r" b="b" t="t" l="l"/>
              <a:pathLst>
                <a:path h="585216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5344" r="0" b="-315344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10972800" cy="6042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>
                  <a:solidFill>
                    <a:srgbClr val="D80E1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Risk categories at a glance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822960" y="4869180"/>
            <a:ext cx="7680960" cy="2537460"/>
            <a:chOff x="0" y="0"/>
            <a:chExt cx="10241280" cy="33832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241280" cy="3383280"/>
            </a:xfrm>
            <a:custGeom>
              <a:avLst/>
              <a:gdLst/>
              <a:ahLst/>
              <a:cxnLst/>
              <a:rect r="r" b="b" t="t" l="l"/>
              <a:pathLst>
                <a:path h="3383280" w="10241280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lnTo>
                    <a:pt x="10149840" y="0"/>
                  </a:lnTo>
                  <a:cubicBezTo>
                    <a:pt x="10200386" y="0"/>
                    <a:pt x="10241280" y="40894"/>
                    <a:pt x="10241280" y="91440"/>
                  </a:cubicBezTo>
                  <a:lnTo>
                    <a:pt x="10241280" y="3291840"/>
                  </a:lnTo>
                  <a:cubicBezTo>
                    <a:pt x="10241280" y="3342386"/>
                    <a:pt x="10200386" y="3383280"/>
                    <a:pt x="10149840" y="3383280"/>
                  </a:cubicBezTo>
                  <a:lnTo>
                    <a:pt x="91440" y="3383280"/>
                  </a:lnTo>
                  <a:cubicBezTo>
                    <a:pt x="40894" y="3383280"/>
                    <a:pt x="0" y="3342386"/>
                    <a:pt x="0" y="3291840"/>
                  </a:cubicBezTo>
                  <a:close/>
                </a:path>
              </a:pathLst>
            </a:custGeom>
            <a:solidFill>
              <a:srgbClr val="054E9C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165860" y="5006340"/>
            <a:ext cx="6995160" cy="2263140"/>
            <a:chOff x="0" y="0"/>
            <a:chExt cx="9326880" cy="30175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326880" cy="3017520"/>
            </a:xfrm>
            <a:custGeom>
              <a:avLst/>
              <a:gdLst/>
              <a:ahLst/>
              <a:cxnLst/>
              <a:rect r="r" b="b" t="t" l="l"/>
              <a:pathLst>
                <a:path h="3017520" w="9326880">
                  <a:moveTo>
                    <a:pt x="0" y="0"/>
                  </a:moveTo>
                  <a:lnTo>
                    <a:pt x="9326880" y="0"/>
                  </a:lnTo>
                  <a:lnTo>
                    <a:pt x="9326880" y="3017520"/>
                  </a:lnTo>
                  <a:lnTo>
                    <a:pt x="0" y="3017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226" r="0" b="-10226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28575"/>
              <a:ext cx="9326880" cy="3046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80"/>
                </a:lnSpc>
              </a:pPr>
              <a:r>
                <a:rPr lang="en-US" sz="1725">
                  <a:solidFill>
                    <a:srgbClr val="E8E8E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CRITICAL   Fraud &amp; Loss Prevention</a:t>
              </a:r>
            </a:p>
            <a:p>
              <a:pPr algn="l">
                <a:lnSpc>
                  <a:spcPts val="2380"/>
                </a:lnSpc>
              </a:pPr>
              <a:r>
                <a:rPr lang="en-US" sz="1725">
                  <a:solidFill>
                    <a:srgbClr val="E8E8E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HIGH       Tax &amp; Regulatory Compliance</a:t>
              </a:r>
            </a:p>
            <a:p>
              <a:pPr algn="l">
                <a:lnSpc>
                  <a:spcPts val="2380"/>
                </a:lnSpc>
              </a:pPr>
              <a:r>
                <a:rPr lang="en-US" sz="1725">
                  <a:solidFill>
                    <a:srgbClr val="E8E8E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HIGH       Financial Reporting Accuracy</a:t>
              </a:r>
            </a:p>
            <a:p>
              <a:pPr algn="l">
                <a:lnSpc>
                  <a:spcPts val="2380"/>
                </a:lnSpc>
              </a:pPr>
              <a:r>
                <a:rPr lang="en-US" sz="1725">
                  <a:solidFill>
                    <a:srgbClr val="E8E8E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MEDIUM     Data Integrity &amp; Customer Trust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9464040" y="4320540"/>
            <a:ext cx="7543800" cy="438912"/>
            <a:chOff x="0" y="0"/>
            <a:chExt cx="10058400" cy="58521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058400" cy="585216"/>
            </a:xfrm>
            <a:custGeom>
              <a:avLst/>
              <a:gdLst/>
              <a:ahLst/>
              <a:cxnLst/>
              <a:rect r="r" b="b" t="t" l="l"/>
              <a:pathLst>
                <a:path h="585216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4899" r="0" b="-284899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9050"/>
              <a:ext cx="10058400" cy="6042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>
                  <a:solidFill>
                    <a:srgbClr val="D80E1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The bottom line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464040" y="4869180"/>
            <a:ext cx="7543800" cy="2537460"/>
            <a:chOff x="0" y="0"/>
            <a:chExt cx="10058400" cy="338328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058400" cy="3383280"/>
            </a:xfrm>
            <a:custGeom>
              <a:avLst/>
              <a:gdLst/>
              <a:ahLst/>
              <a:cxnLst/>
              <a:rect r="r" b="b" t="t" l="l"/>
              <a:pathLst>
                <a:path h="338328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3383280"/>
                  </a:lnTo>
                  <a:lnTo>
                    <a:pt x="0" y="3383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928" r="0" b="-7928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66675"/>
              <a:ext cx="10058400" cy="3449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37"/>
                </a:lnSpc>
              </a:pPr>
              <a:r>
                <a:rPr lang="en-US" sz="2025">
                  <a:solidFill>
                    <a:srgbClr val="3A3A3A"/>
                  </a:solidFill>
                  <a:latin typeface="Arial"/>
                  <a:ea typeface="Arial"/>
                  <a:cs typeface="Arial"/>
                  <a:sym typeface="Arial"/>
                </a:rPr>
                <a:t>These findings are not isolated technical defects. Together, they sit directly under Lewis Group’s ability to trust its own financial numbers, defend a tax audit, and detect internal fraud.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822960" y="7886700"/>
            <a:ext cx="15224760" cy="685800"/>
            <a:chOff x="0" y="0"/>
            <a:chExt cx="20299680" cy="9144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0299680" cy="914400"/>
            </a:xfrm>
            <a:custGeom>
              <a:avLst/>
              <a:gdLst/>
              <a:ahLst/>
              <a:cxnLst/>
              <a:rect r="r" b="b" t="t" l="l"/>
              <a:pathLst>
                <a:path h="914400" w="20299680">
                  <a:moveTo>
                    <a:pt x="0" y="0"/>
                  </a:moveTo>
                  <a:lnTo>
                    <a:pt x="20299680" y="0"/>
                  </a:lnTo>
                  <a:lnTo>
                    <a:pt x="202996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82567" r="0" b="-382567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19050"/>
              <a:ext cx="2029968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i="true">
                  <a:solidFill>
                    <a:srgbClr val="6B6B6B"/>
                  </a:solidFill>
                  <a:latin typeface="Arial Italics"/>
                  <a:ea typeface="Arial Italics"/>
                  <a:cs typeface="Arial Italics"/>
                  <a:sym typeface="Arial Italics"/>
                </a:rPr>
                <a:t>Priority: fix the audit-trail (DB-01) and VAT-persistence (DB-03) gaps first — they carry both compliance and fraud-detection exposure.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822960" y="9710928"/>
            <a:ext cx="8229600" cy="411480"/>
            <a:chOff x="0" y="0"/>
            <a:chExt cx="10972800" cy="5486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19050"/>
              <a:ext cx="109728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0"/>
                </a:lnSpc>
              </a:pPr>
              <a:r>
                <a:rPr lang="en-US" sz="1275">
                  <a:solidFill>
                    <a:srgbClr val="6B6B6B"/>
                  </a:solidFill>
                  <a:latin typeface="Arial"/>
                  <a:ea typeface="Arial"/>
                  <a:cs typeface="Arial"/>
                  <a:sym typeface="Arial"/>
                </a:rPr>
                <a:t>LEWIS-GATEWAY PROJECT 1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6637508" y="9710928"/>
            <a:ext cx="822960" cy="411480"/>
            <a:chOff x="0" y="0"/>
            <a:chExt cx="1097280" cy="54864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09728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19050"/>
              <a:ext cx="109728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6B6B6B"/>
                  </a:solidFill>
                  <a:latin typeface="Arial"/>
                  <a:ea typeface="Arial"/>
                  <a:cs typeface="Arial"/>
                  <a:sym typeface="Arial"/>
                </a:rPr>
                <a:t>11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17220"/>
            <a:ext cx="13716000" cy="411480"/>
            <a:chOff x="0" y="0"/>
            <a:chExt cx="182880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548640"/>
            </a:xfrm>
            <a:custGeom>
              <a:avLst/>
              <a:gdLst/>
              <a:ahLst/>
              <a:cxnLst/>
              <a:rect r="r" b="b" t="t" l="l"/>
              <a:pathLst>
                <a:path h="54864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99501" r="0" b="-599501"/>
              </a:stretch>
            </a:blipFill>
          </p:spPr>
          <p:txBody>
            <a:bodyPr/>
            <a:p/>
          </p:txBody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182880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299">
                  <a:solidFill>
                    <a:srgbClr val="D80E1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LIVE WALKTHROUGH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391183" y="1141295"/>
            <a:ext cx="15773400" cy="1097280"/>
            <a:chOff x="0" y="0"/>
            <a:chExt cx="21031200" cy="14630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0312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0097" r="0" b="-230097"/>
              </a:stretch>
            </a:blipFill>
          </p:spPr>
          <p:txBody>
            <a:bodyPr/>
            <a:p/>
          </p:txBody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10312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232323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Recorded Demo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69848" y="3622948"/>
            <a:ext cx="685800" cy="685800"/>
            <a:chOff x="0" y="0"/>
            <a:chExt cx="914400" cy="914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D80E13"/>
            </a:solidFill>
          </p:spPr>
          <p:txBody>
            <a:bodyPr/>
            <a:p/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28700" y="3622948"/>
            <a:ext cx="685800" cy="685800"/>
            <a:chOff x="0" y="0"/>
            <a:chExt cx="914400" cy="914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  <p:txBody>
            <a:bodyPr/>
            <a:p/>
          </p:txBody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91440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2030763" y="3724475"/>
            <a:ext cx="6720840" cy="482746"/>
            <a:chOff x="0" y="0"/>
            <a:chExt cx="8961120" cy="64366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961120" cy="643661"/>
            </a:xfrm>
            <a:custGeom>
              <a:avLst/>
              <a:gdLst/>
              <a:ahLst/>
              <a:cxnLst/>
              <a:rect r="r" b="b" t="t" l="l"/>
              <a:pathLst>
                <a:path h="643661" w="8961120">
                  <a:moveTo>
                    <a:pt x="0" y="0"/>
                  </a:moveTo>
                  <a:lnTo>
                    <a:pt x="8961120" y="0"/>
                  </a:lnTo>
                  <a:lnTo>
                    <a:pt x="8961120" y="643661"/>
                  </a:lnTo>
                  <a:lnTo>
                    <a:pt x="0" y="64366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1550" r="0" b="-220994"/>
              </a:stretch>
            </a:blipFill>
          </p:spPr>
          <p:txBody>
            <a:bodyPr/>
            <a:p/>
          </p:txBody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8961120" cy="6531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49"/>
                </a:lnSpc>
              </a:pPr>
              <a:r>
                <a:rPr lang="en-US" sz="2374" b="true">
                  <a:solidFill>
                    <a:srgbClr val="23232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Cypress UI Automated </a:t>
              </a:r>
              <a:r>
                <a:rPr lang="en-US" sz="2374" b="true">
                  <a:solidFill>
                    <a:srgbClr val="23232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Walkthrough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2129902" y="3965848"/>
            <a:ext cx="6720840" cy="822960"/>
            <a:chOff x="0" y="0"/>
            <a:chExt cx="8961120" cy="10972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9611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8961120">
                  <a:moveTo>
                    <a:pt x="0" y="0"/>
                  </a:moveTo>
                  <a:lnTo>
                    <a:pt x="8961120" y="0"/>
                  </a:lnTo>
                  <a:lnTo>
                    <a:pt x="89611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9127" r="0" b="-109127"/>
              </a:stretch>
            </a:blipFill>
          </p:spPr>
          <p:txBody>
            <a:bodyPr/>
            <a:p/>
          </p:txBody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896112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56"/>
                </a:lnSpc>
              </a:pPr>
              <a:r>
                <a:rPr lang="en-US" sz="1924">
                  <a:solidFill>
                    <a:srgbClr val="3A3A3A"/>
                  </a:solidFill>
                  <a:latin typeface="Arial"/>
                  <a:ea typeface="Arial"/>
                  <a:cs typeface="Arial"/>
                  <a:sym typeface="Arial"/>
                </a:rPr>
                <a:t>Confirm the live end to end Happy Path.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8757334" y="3622948"/>
            <a:ext cx="647700" cy="685800"/>
            <a:chOff x="0" y="0"/>
            <a:chExt cx="863600" cy="9144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63600" cy="914400"/>
            </a:xfrm>
            <a:custGeom>
              <a:avLst/>
              <a:gdLst/>
              <a:ahLst/>
              <a:cxnLst/>
              <a:rect r="r" b="b" t="t" l="l"/>
              <a:pathLst>
                <a:path h="914400" w="863600">
                  <a:moveTo>
                    <a:pt x="0" y="457200"/>
                  </a:moveTo>
                  <a:cubicBezTo>
                    <a:pt x="0" y="204724"/>
                    <a:pt x="193350" y="0"/>
                    <a:pt x="431800" y="0"/>
                  </a:cubicBezTo>
                  <a:cubicBezTo>
                    <a:pt x="670250" y="0"/>
                    <a:pt x="863600" y="204724"/>
                    <a:pt x="863600" y="457200"/>
                  </a:cubicBezTo>
                  <a:cubicBezTo>
                    <a:pt x="863600" y="709676"/>
                    <a:pt x="670250" y="914400"/>
                    <a:pt x="431800" y="914400"/>
                  </a:cubicBezTo>
                  <a:cubicBezTo>
                    <a:pt x="193350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054E9C"/>
            </a:solidFill>
          </p:spPr>
          <p:txBody>
            <a:bodyPr/>
            <a:p/>
          </p:txBody>
        </p:sp>
      </p:grpSp>
      <p:grpSp>
        <p:nvGrpSpPr>
          <p:cNvPr name="Group 21" id="21"/>
          <p:cNvGrpSpPr/>
          <p:nvPr/>
        </p:nvGrpSpPr>
        <p:grpSpPr>
          <a:xfrm rot="0">
            <a:off x="8709660" y="3622948"/>
            <a:ext cx="685800" cy="685800"/>
            <a:chOff x="0" y="0"/>
            <a:chExt cx="914400" cy="9144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  <p:txBody>
            <a:bodyPr/>
            <a:p/>
          </p:txBody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91440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681259" y="3724475"/>
            <a:ext cx="6720840" cy="482770"/>
            <a:chOff x="0" y="0"/>
            <a:chExt cx="8961120" cy="64369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961120" cy="643694"/>
            </a:xfrm>
            <a:custGeom>
              <a:avLst/>
              <a:gdLst/>
              <a:ahLst/>
              <a:cxnLst/>
              <a:rect r="r" b="b" t="t" l="l"/>
              <a:pathLst>
                <a:path h="643694" w="8961120">
                  <a:moveTo>
                    <a:pt x="0" y="0"/>
                  </a:moveTo>
                  <a:lnTo>
                    <a:pt x="8961120" y="0"/>
                  </a:lnTo>
                  <a:lnTo>
                    <a:pt x="8961120" y="643694"/>
                  </a:lnTo>
                  <a:lnTo>
                    <a:pt x="0" y="64369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1539" r="0" b="-220978"/>
              </a:stretch>
            </a:blipFill>
          </p:spPr>
          <p:txBody>
            <a:bodyPr/>
            <a:p/>
          </p:txBody>
        </p:sp>
        <p:sp>
          <p:nvSpPr>
            <p:cNvPr name="TextBox 26" id="26"/>
            <p:cNvSpPr txBox="true"/>
            <p:nvPr/>
          </p:nvSpPr>
          <p:spPr>
            <a:xfrm>
              <a:off x="0" y="-9525"/>
              <a:ext cx="8961120" cy="6532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49"/>
                </a:lnSpc>
              </a:pPr>
              <a:r>
                <a:rPr lang="en-US" sz="2374" b="true">
                  <a:solidFill>
                    <a:srgbClr val="23232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Postman Verification Test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719359" y="4207221"/>
            <a:ext cx="6720840" cy="822960"/>
            <a:chOff x="0" y="0"/>
            <a:chExt cx="8961120" cy="109728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9611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8961120">
                  <a:moveTo>
                    <a:pt x="0" y="0"/>
                  </a:moveTo>
                  <a:lnTo>
                    <a:pt x="8961120" y="0"/>
                  </a:lnTo>
                  <a:lnTo>
                    <a:pt x="89611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9127" r="0" b="-109127"/>
              </a:stretch>
            </a:blipFill>
          </p:spPr>
          <p:txBody>
            <a:bodyPr/>
            <a:p/>
          </p:txBody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896112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56"/>
                </a:lnSpc>
              </a:pPr>
              <a:r>
                <a:rPr lang="en-US" sz="1924">
                  <a:solidFill>
                    <a:srgbClr val="3A3A3A"/>
                  </a:solidFill>
                  <a:latin typeface="Arial"/>
                  <a:ea typeface="Arial"/>
                  <a:cs typeface="Arial"/>
                  <a:sym typeface="Arial"/>
                </a:rPr>
                <a:t>Execute a test against the order created on the UI, and check if it reflects on the API side.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4705383" y="5649468"/>
            <a:ext cx="685800" cy="685800"/>
            <a:chOff x="0" y="0"/>
            <a:chExt cx="914400" cy="9144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D80E13"/>
            </a:solidFill>
          </p:spPr>
          <p:txBody>
            <a:bodyPr/>
            <a:p/>
          </p:txBody>
        </p:sp>
      </p:grpSp>
      <p:grpSp>
        <p:nvGrpSpPr>
          <p:cNvPr name="Group 32" id="32"/>
          <p:cNvGrpSpPr/>
          <p:nvPr/>
        </p:nvGrpSpPr>
        <p:grpSpPr>
          <a:xfrm rot="0">
            <a:off x="4705383" y="5678271"/>
            <a:ext cx="685800" cy="685800"/>
            <a:chOff x="0" y="0"/>
            <a:chExt cx="914400" cy="9144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  <p:txBody>
            <a:bodyPr/>
            <a:p/>
          </p:txBody>
        </p:sp>
        <p:sp>
          <p:nvSpPr>
            <p:cNvPr name="TextBox 34" id="34"/>
            <p:cNvSpPr txBox="true"/>
            <p:nvPr/>
          </p:nvSpPr>
          <p:spPr>
            <a:xfrm>
              <a:off x="0" y="-19050"/>
              <a:ext cx="91440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5490322" y="5790432"/>
            <a:ext cx="6720840" cy="482770"/>
            <a:chOff x="0" y="0"/>
            <a:chExt cx="8961120" cy="64369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961120" cy="643694"/>
            </a:xfrm>
            <a:custGeom>
              <a:avLst/>
              <a:gdLst/>
              <a:ahLst/>
              <a:cxnLst/>
              <a:rect r="r" b="b" t="t" l="l"/>
              <a:pathLst>
                <a:path h="643694" w="8961120">
                  <a:moveTo>
                    <a:pt x="0" y="0"/>
                  </a:moveTo>
                  <a:lnTo>
                    <a:pt x="8961120" y="0"/>
                  </a:lnTo>
                  <a:lnTo>
                    <a:pt x="8961120" y="643694"/>
                  </a:lnTo>
                  <a:lnTo>
                    <a:pt x="0" y="64369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1539" r="0" b="-220978"/>
              </a:stretch>
            </a:blipFill>
          </p:spPr>
          <p:txBody>
            <a:bodyPr/>
            <a:p/>
          </p:txBody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8961120" cy="6532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49"/>
                </a:lnSpc>
              </a:pPr>
              <a:r>
                <a:rPr lang="en-US" sz="2374" b="true">
                  <a:solidFill>
                    <a:srgbClr val="23232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VSCode Database Query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5490322" y="6301777"/>
            <a:ext cx="6720840" cy="822960"/>
            <a:chOff x="0" y="0"/>
            <a:chExt cx="8961120" cy="109728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9611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8961120">
                  <a:moveTo>
                    <a:pt x="0" y="0"/>
                  </a:moveTo>
                  <a:lnTo>
                    <a:pt x="8961120" y="0"/>
                  </a:lnTo>
                  <a:lnTo>
                    <a:pt x="89611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9127" r="0" b="-109127"/>
              </a:stretch>
            </a:blipFill>
          </p:spPr>
          <p:txBody>
            <a:bodyPr/>
            <a:p/>
          </p:txBody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896112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56"/>
                </a:lnSpc>
              </a:pPr>
              <a:r>
                <a:rPr lang="en-US" sz="1924">
                  <a:solidFill>
                    <a:srgbClr val="3A3A3A"/>
                  </a:solidFill>
                  <a:latin typeface="Arial"/>
                  <a:ea typeface="Arial"/>
                  <a:cs typeface="Arial"/>
                  <a:sym typeface="Arial"/>
                </a:rPr>
                <a:t>Execute a query against the order created on the UI and check if the database reflects the changes.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822960" y="9710928"/>
            <a:ext cx="8229600" cy="411480"/>
            <a:chOff x="0" y="0"/>
            <a:chExt cx="10972800" cy="5486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  <p:txBody>
            <a:bodyPr/>
            <a:p/>
          </p:txBody>
        </p:sp>
        <p:sp>
          <p:nvSpPr>
            <p:cNvPr name="TextBox 43" id="43"/>
            <p:cNvSpPr txBox="true"/>
            <p:nvPr/>
          </p:nvSpPr>
          <p:spPr>
            <a:xfrm>
              <a:off x="0" y="-19050"/>
              <a:ext cx="109728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0"/>
                </a:lnSpc>
              </a:pPr>
              <a:r>
                <a:rPr lang="en-US" sz="1275">
                  <a:solidFill>
                    <a:srgbClr val="6B6B6B"/>
                  </a:solidFill>
                  <a:latin typeface="Arial"/>
                  <a:ea typeface="Arial"/>
                  <a:cs typeface="Arial"/>
                  <a:sym typeface="Arial"/>
                </a:rPr>
                <a:t>LEWIS-GATEWAY PROJECT 1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6637508" y="9710928"/>
            <a:ext cx="822960" cy="411480"/>
            <a:chOff x="0" y="0"/>
            <a:chExt cx="1097280" cy="54864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9728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  <p:txBody>
            <a:bodyPr/>
            <a:p/>
          </p:txBody>
        </p:sp>
        <p:sp>
          <p:nvSpPr>
            <p:cNvPr name="TextBox 46" id="46"/>
            <p:cNvSpPr txBox="true"/>
            <p:nvPr/>
          </p:nvSpPr>
          <p:spPr>
            <a:xfrm>
              <a:off x="0" y="-19050"/>
              <a:ext cx="109728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6B6B6B"/>
                  </a:solidFill>
                  <a:latin typeface="Arial"/>
                  <a:ea typeface="Arial"/>
                  <a:cs typeface="Arial"/>
                  <a:sym typeface="Arial"/>
                </a:rPr>
                <a:t>12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>
            <a:hlinkClick action="ppaction://media"/>
          </p:cNvPr>
          <p:cNvPicPr>
            <a:picLocks noChangeAspect="true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2"/>
          <a:srcRect l="0" t="1025" r="0" b="4231"/>
          <a:stretch>
            <a:fillRect/>
          </a:stretch>
        </p:blipFill>
        <p:spPr>
          <a:xfrm flipH="false" flipV="false" rot="0">
            <a:off x="496611" y="1550767"/>
            <a:ext cx="17311569" cy="8517815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1957884" y="481085"/>
            <a:ext cx="12811512" cy="597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71"/>
              </a:lnSpc>
              <a:spcBef>
                <a:spcPct val="0"/>
              </a:spcBef>
            </a:pPr>
            <a:r>
              <a:rPr lang="en-US" b="true" sz="3457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End-To-End Happy Path Demo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17220"/>
            <a:ext cx="13716000" cy="411480"/>
            <a:chOff x="0" y="0"/>
            <a:chExt cx="182880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548640"/>
            </a:xfrm>
            <a:custGeom>
              <a:avLst/>
              <a:gdLst/>
              <a:ahLst/>
              <a:cxnLst/>
              <a:rect r="r" b="b" t="t" l="l"/>
              <a:pathLst>
                <a:path h="54864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99501" r="0" b="-599501"/>
              </a:stretch>
            </a:blipFill>
          </p:spPr>
          <p:txBody>
            <a:bodyPr/>
            <a:p/>
          </p:txBody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182880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299">
                  <a:solidFill>
                    <a:srgbClr val="D80E1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NEXT STEPS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987552"/>
            <a:ext cx="15773400" cy="1097280"/>
            <a:chOff x="0" y="0"/>
            <a:chExt cx="21031200" cy="14630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0312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0097" r="0" b="-230097"/>
              </a:stretch>
            </a:blipFill>
          </p:spPr>
          <p:txBody>
            <a:bodyPr/>
            <a:p/>
          </p:txBody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10312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232323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Recommendations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537460"/>
            <a:ext cx="548640" cy="548640"/>
            <a:chOff x="0" y="0"/>
            <a:chExt cx="731520" cy="731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D80E13"/>
            </a:solidFill>
          </p:spPr>
          <p:txBody>
            <a:bodyPr/>
            <a:p/>
          </p:txBody>
        </p:sp>
      </p:grpSp>
      <p:grpSp>
        <p:nvGrpSpPr>
          <p:cNvPr name="Group 10" id="10"/>
          <p:cNvGrpSpPr/>
          <p:nvPr/>
        </p:nvGrpSpPr>
        <p:grpSpPr>
          <a:xfrm rot="0">
            <a:off x="822960" y="2537460"/>
            <a:ext cx="548640" cy="548640"/>
            <a:chOff x="0" y="0"/>
            <a:chExt cx="731520" cy="7315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  <p:txBody>
            <a:bodyPr/>
            <a:p/>
          </p:txBody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73152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✓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45920" y="2455164"/>
            <a:ext cx="15361920" cy="891540"/>
            <a:chOff x="0" y="0"/>
            <a:chExt cx="20482560" cy="11887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0482561" cy="1188720"/>
            </a:xfrm>
            <a:custGeom>
              <a:avLst/>
              <a:gdLst/>
              <a:ahLst/>
              <a:cxnLst/>
              <a:rect r="r" b="b" t="t" l="l"/>
              <a:pathLst>
                <a:path h="1188720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5742" r="0" b="-285742"/>
              </a:stretch>
            </a:blipFill>
          </p:spPr>
          <p:txBody>
            <a:bodyPr/>
            <a:p/>
          </p:txBody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20482560" cy="1226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4"/>
                </a:lnSpc>
              </a:pPr>
              <a:r>
                <a:rPr lang="en-US" sz="2025">
                  <a:solidFill>
                    <a:srgbClr val="232323"/>
                  </a:solidFill>
                  <a:latin typeface="Arial"/>
                  <a:ea typeface="Arial"/>
                  <a:cs typeface="Arial"/>
                  <a:sym typeface="Arial"/>
                </a:rPr>
                <a:t>Add a product.stock.updated audit event, matching the existing auth.* / order.* naming convention.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22960" y="3607308"/>
            <a:ext cx="548640" cy="548640"/>
            <a:chOff x="0" y="0"/>
            <a:chExt cx="731520" cy="7315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054E9C"/>
            </a:solidFill>
          </p:spPr>
          <p:txBody>
            <a:bodyPr/>
            <a:p/>
          </p:txBody>
        </p:sp>
      </p:grpSp>
      <p:grpSp>
        <p:nvGrpSpPr>
          <p:cNvPr name="Group 18" id="18"/>
          <p:cNvGrpSpPr/>
          <p:nvPr/>
        </p:nvGrpSpPr>
        <p:grpSpPr>
          <a:xfrm rot="0">
            <a:off x="822960" y="3607308"/>
            <a:ext cx="548640" cy="548640"/>
            <a:chOff x="0" y="0"/>
            <a:chExt cx="731520" cy="7315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  <p:txBody>
            <a:bodyPr/>
            <a:p/>
          </p:txBody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73152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✓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645920" y="3525012"/>
            <a:ext cx="15361920" cy="891540"/>
            <a:chOff x="0" y="0"/>
            <a:chExt cx="20482560" cy="11887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0482561" cy="1188720"/>
            </a:xfrm>
            <a:custGeom>
              <a:avLst/>
              <a:gdLst/>
              <a:ahLst/>
              <a:cxnLst/>
              <a:rect r="r" b="b" t="t" l="l"/>
              <a:pathLst>
                <a:path h="1188720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5742" r="0" b="-285742"/>
              </a:stretch>
            </a:blipFill>
          </p:spPr>
          <p:txBody>
            <a:bodyPr/>
            <a:p/>
          </p:txBody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20482560" cy="1226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4"/>
                </a:lnSpc>
              </a:pPr>
              <a:r>
                <a:rPr lang="en-US" sz="2025">
                  <a:solidFill>
                    <a:srgbClr val="232323"/>
                  </a:solidFill>
                  <a:latin typeface="Arial"/>
                  <a:ea typeface="Arial"/>
                  <a:cs typeface="Arial"/>
                  <a:sym typeface="Arial"/>
                </a:rPr>
                <a:t>Add CHECK constraints for StockQuantity ≥ 0, Price ≥ 0, and Rating between 0 and 5.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822960" y="4677156"/>
            <a:ext cx="548640" cy="548640"/>
            <a:chOff x="0" y="0"/>
            <a:chExt cx="731520" cy="73152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D80E13"/>
            </a:solidFill>
          </p:spPr>
          <p:txBody>
            <a:bodyPr/>
            <a:p/>
          </p:txBody>
        </p:sp>
      </p:grpSp>
      <p:grpSp>
        <p:nvGrpSpPr>
          <p:cNvPr name="Group 26" id="26"/>
          <p:cNvGrpSpPr/>
          <p:nvPr/>
        </p:nvGrpSpPr>
        <p:grpSpPr>
          <a:xfrm rot="0">
            <a:off x="822960" y="4677156"/>
            <a:ext cx="548640" cy="548640"/>
            <a:chOff x="0" y="0"/>
            <a:chExt cx="731520" cy="7315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  <p:txBody>
            <a:bodyPr/>
            <a:p/>
          </p:txBody>
        </p:sp>
        <p:sp>
          <p:nvSpPr>
            <p:cNvPr name="TextBox 28" id="28"/>
            <p:cNvSpPr txBox="true"/>
            <p:nvPr/>
          </p:nvSpPr>
          <p:spPr>
            <a:xfrm>
              <a:off x="0" y="-19050"/>
              <a:ext cx="73152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✓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645920" y="4594860"/>
            <a:ext cx="15361920" cy="891540"/>
            <a:chOff x="0" y="0"/>
            <a:chExt cx="20482560" cy="11887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0482561" cy="1188720"/>
            </a:xfrm>
            <a:custGeom>
              <a:avLst/>
              <a:gdLst/>
              <a:ahLst/>
              <a:cxnLst/>
              <a:rect r="r" b="b" t="t" l="l"/>
              <a:pathLst>
                <a:path h="1188720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5742" r="0" b="-285742"/>
              </a:stretch>
            </a:blipFill>
          </p:spPr>
          <p:txBody>
            <a:bodyPr/>
            <a:p/>
          </p:txBody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20482560" cy="1226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4"/>
                </a:lnSpc>
              </a:pPr>
              <a:r>
                <a:rPr lang="en-US" sz="2025">
                  <a:solidFill>
                    <a:srgbClr val="232323"/>
                  </a:solidFill>
                  <a:latin typeface="Arial"/>
                  <a:ea typeface="Arial"/>
                  <a:cs typeface="Arial"/>
                  <a:sym typeface="Arial"/>
                </a:rPr>
                <a:t>Persist a VAT breakdown (Subtotal, VatRate, VatAmount) on OrderItems for compliance auditing.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822960" y="5747004"/>
            <a:ext cx="548640" cy="548640"/>
            <a:chOff x="0" y="0"/>
            <a:chExt cx="731520" cy="7315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054E9C"/>
            </a:solidFill>
          </p:spPr>
          <p:txBody>
            <a:bodyPr/>
            <a:p/>
          </p:txBody>
        </p:sp>
      </p:grpSp>
      <p:grpSp>
        <p:nvGrpSpPr>
          <p:cNvPr name="Group 34" id="34"/>
          <p:cNvGrpSpPr/>
          <p:nvPr/>
        </p:nvGrpSpPr>
        <p:grpSpPr>
          <a:xfrm rot="0">
            <a:off x="822960" y="5747004"/>
            <a:ext cx="548640" cy="548640"/>
            <a:chOff x="0" y="0"/>
            <a:chExt cx="731520" cy="73152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  <p:txBody>
            <a:bodyPr/>
            <a:p/>
          </p:txBody>
        </p:sp>
        <p:sp>
          <p:nvSpPr>
            <p:cNvPr name="TextBox 36" id="36"/>
            <p:cNvSpPr txBox="true"/>
            <p:nvPr/>
          </p:nvSpPr>
          <p:spPr>
            <a:xfrm>
              <a:off x="0" y="-19050"/>
              <a:ext cx="73152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✓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645920" y="5664708"/>
            <a:ext cx="15361920" cy="891540"/>
            <a:chOff x="0" y="0"/>
            <a:chExt cx="20482560" cy="118872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0482561" cy="1188720"/>
            </a:xfrm>
            <a:custGeom>
              <a:avLst/>
              <a:gdLst/>
              <a:ahLst/>
              <a:cxnLst/>
              <a:rect r="r" b="b" t="t" l="l"/>
              <a:pathLst>
                <a:path h="1188720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5742" r="0" b="-285742"/>
              </a:stretch>
            </a:blipFill>
          </p:spPr>
          <p:txBody>
            <a:bodyPr/>
            <a:p/>
          </p:txBody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20482560" cy="1226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4"/>
                </a:lnSpc>
              </a:pPr>
              <a:r>
                <a:rPr lang="en-US" sz="2025">
                  <a:solidFill>
                    <a:srgbClr val="232323"/>
                  </a:solidFill>
                  <a:latin typeface="Arial"/>
                  <a:ea typeface="Arial"/>
                  <a:cs typeface="Arial"/>
                  <a:sym typeface="Arial"/>
                </a:rPr>
                <a:t>Round all currency values to 2 decimal places before returning them from the Pricing API.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822960" y="6816852"/>
            <a:ext cx="548640" cy="548640"/>
            <a:chOff x="0" y="0"/>
            <a:chExt cx="731520" cy="73152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D80E13"/>
            </a:solidFill>
          </p:spPr>
          <p:txBody>
            <a:bodyPr/>
            <a:p/>
          </p:txBody>
        </p:sp>
      </p:grpSp>
      <p:grpSp>
        <p:nvGrpSpPr>
          <p:cNvPr name="Group 42" id="42"/>
          <p:cNvGrpSpPr/>
          <p:nvPr/>
        </p:nvGrpSpPr>
        <p:grpSpPr>
          <a:xfrm rot="0">
            <a:off x="822960" y="6816852"/>
            <a:ext cx="548640" cy="548640"/>
            <a:chOff x="0" y="0"/>
            <a:chExt cx="731520" cy="73152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  <p:txBody>
            <a:bodyPr/>
            <a:p/>
          </p:txBody>
        </p:sp>
        <p:sp>
          <p:nvSpPr>
            <p:cNvPr name="TextBox 44" id="44"/>
            <p:cNvSpPr txBox="true"/>
            <p:nvPr/>
          </p:nvSpPr>
          <p:spPr>
            <a:xfrm>
              <a:off x="0" y="-19050"/>
              <a:ext cx="73152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✓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645920" y="6734556"/>
            <a:ext cx="15361920" cy="891540"/>
            <a:chOff x="0" y="0"/>
            <a:chExt cx="20482560" cy="118872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0482561" cy="1188720"/>
            </a:xfrm>
            <a:custGeom>
              <a:avLst/>
              <a:gdLst/>
              <a:ahLst/>
              <a:cxnLst/>
              <a:rect r="r" b="b" t="t" l="l"/>
              <a:pathLst>
                <a:path h="1188720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5742" r="0" b="-285742"/>
              </a:stretch>
            </a:blipFill>
          </p:spPr>
          <p:txBody>
            <a:bodyPr/>
            <a:p/>
          </p:txBody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20482560" cy="1226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4"/>
                </a:lnSpc>
              </a:pPr>
              <a:r>
                <a:rPr lang="en-US" sz="2025">
                  <a:solidFill>
                    <a:srgbClr val="232323"/>
                  </a:solidFill>
                  <a:latin typeface="Arial"/>
                  <a:ea typeface="Arial"/>
                  <a:cs typeface="Arial"/>
                  <a:sym typeface="Arial"/>
                </a:rPr>
                <a:t>Resolve the Orders.Items / OrderItems duplication — treat OrderItems as the single source of truth.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822960" y="9710928"/>
            <a:ext cx="8229600" cy="411480"/>
            <a:chOff x="0" y="0"/>
            <a:chExt cx="10972800" cy="54864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  <p:txBody>
            <a:bodyPr/>
            <a:p/>
          </p:txBody>
        </p:sp>
        <p:sp>
          <p:nvSpPr>
            <p:cNvPr name="TextBox 50" id="50"/>
            <p:cNvSpPr txBox="true"/>
            <p:nvPr/>
          </p:nvSpPr>
          <p:spPr>
            <a:xfrm>
              <a:off x="0" y="-19050"/>
              <a:ext cx="109728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0"/>
                </a:lnSpc>
              </a:pPr>
              <a:r>
                <a:rPr lang="en-US" sz="1275">
                  <a:solidFill>
                    <a:srgbClr val="6B6B6B"/>
                  </a:solidFill>
                  <a:latin typeface="Arial"/>
                  <a:ea typeface="Arial"/>
                  <a:cs typeface="Arial"/>
                  <a:sym typeface="Arial"/>
                </a:rPr>
                <a:t>LEWIS-GATEWAY PROJECT 1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6637508" y="9710928"/>
            <a:ext cx="822960" cy="411480"/>
            <a:chOff x="0" y="0"/>
            <a:chExt cx="1097280" cy="54864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09728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  <p:txBody>
            <a:bodyPr/>
            <a:p/>
          </p:txBody>
        </p:sp>
        <p:sp>
          <p:nvSpPr>
            <p:cNvPr name="TextBox 53" id="53"/>
            <p:cNvSpPr txBox="true"/>
            <p:nvPr/>
          </p:nvSpPr>
          <p:spPr>
            <a:xfrm>
              <a:off x="0" y="-19050"/>
              <a:ext cx="109728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6B6B6B"/>
                  </a:solidFill>
                  <a:latin typeface="Arial"/>
                  <a:ea typeface="Arial"/>
                  <a:cs typeface="Arial"/>
                  <a:sym typeface="Arial"/>
                </a:rPr>
                <a:t>13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4E9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566160" y="-3566160"/>
            <a:ext cx="8915400" cy="8915400"/>
            <a:chOff x="0" y="0"/>
            <a:chExt cx="11887200" cy="11887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887200" cy="11887200"/>
            </a:xfrm>
            <a:custGeom>
              <a:avLst/>
              <a:gdLst/>
              <a:ahLst/>
              <a:cxnLst/>
              <a:rect r="r" b="b" t="t" l="l"/>
              <a:pathLst>
                <a:path h="11887200" w="11887200">
                  <a:moveTo>
                    <a:pt x="0" y="5943600"/>
                  </a:moveTo>
                  <a:cubicBezTo>
                    <a:pt x="0" y="2661031"/>
                    <a:pt x="2661031" y="0"/>
                    <a:pt x="5943600" y="0"/>
                  </a:cubicBezTo>
                  <a:cubicBezTo>
                    <a:pt x="9226169" y="0"/>
                    <a:pt x="11887200" y="2661031"/>
                    <a:pt x="11887200" y="5943600"/>
                  </a:cubicBezTo>
                  <a:cubicBezTo>
                    <a:pt x="11887200" y="9226169"/>
                    <a:pt x="9226169" y="11887200"/>
                    <a:pt x="5943600" y="11887200"/>
                  </a:cubicBezTo>
                  <a:cubicBezTo>
                    <a:pt x="2661031" y="11887200"/>
                    <a:pt x="0" y="9226169"/>
                    <a:pt x="0" y="5943600"/>
                  </a:cubicBezTo>
                  <a:close/>
                </a:path>
              </a:pathLst>
            </a:custGeom>
            <a:solidFill>
              <a:srgbClr val="6E0F1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716000" y="6172200"/>
            <a:ext cx="7543800" cy="7543800"/>
            <a:chOff x="0" y="0"/>
            <a:chExt cx="10058400" cy="10058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058400" cy="10058400"/>
            </a:xfrm>
            <a:custGeom>
              <a:avLst/>
              <a:gdLst/>
              <a:ahLst/>
              <a:cxnLst/>
              <a:rect r="r" b="b" t="t" l="l"/>
              <a:pathLst>
                <a:path h="10058400" w="10058400">
                  <a:moveTo>
                    <a:pt x="0" y="5029200"/>
                  </a:moveTo>
                  <a:cubicBezTo>
                    <a:pt x="0" y="2251710"/>
                    <a:pt x="2251710" y="0"/>
                    <a:pt x="5029200" y="0"/>
                  </a:cubicBezTo>
                  <a:cubicBezTo>
                    <a:pt x="7806690" y="0"/>
                    <a:pt x="10058400" y="2251710"/>
                    <a:pt x="10058400" y="5029200"/>
                  </a:cubicBezTo>
                  <a:cubicBezTo>
                    <a:pt x="10058400" y="7806690"/>
                    <a:pt x="7806690" y="10058400"/>
                    <a:pt x="5029200" y="10058400"/>
                  </a:cubicBezTo>
                  <a:cubicBezTo>
                    <a:pt x="2251710" y="10058400"/>
                    <a:pt x="0" y="7806690"/>
                    <a:pt x="0" y="5029200"/>
                  </a:cubicBezTo>
                  <a:close/>
                </a:path>
              </a:pathLst>
            </a:custGeom>
            <a:solidFill>
              <a:srgbClr val="3A3A3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3703320"/>
            <a:ext cx="18283428" cy="1645920"/>
            <a:chOff x="0" y="0"/>
            <a:chExt cx="24377904" cy="21945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377904" cy="2194560"/>
            </a:xfrm>
            <a:custGeom>
              <a:avLst/>
              <a:gdLst/>
              <a:ahLst/>
              <a:cxnLst/>
              <a:rect r="r" b="b" t="t" l="l"/>
              <a:pathLst>
                <a:path h="2194560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6446" r="0" b="-166446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24377904" cy="21945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360"/>
                </a:lnSpc>
              </a:pPr>
              <a:r>
                <a:rPr lang="en-US" sz="78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Thank You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0" y="5143500"/>
            <a:ext cx="18283428" cy="822960"/>
            <a:chOff x="0" y="0"/>
            <a:chExt cx="24377904" cy="10972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4377904" cy="1097280"/>
            </a:xfrm>
            <a:custGeom>
              <a:avLst/>
              <a:gdLst/>
              <a:ahLst/>
              <a:cxnLst/>
              <a:rect r="r" b="b" t="t" l="l"/>
              <a:pathLst>
                <a:path h="1097280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82892" r="0" b="-382892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24377904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079"/>
                </a:lnSpc>
              </a:pPr>
              <a:r>
                <a:rPr lang="en-US" sz="3399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Questions</a:t>
              </a:r>
              <a:r>
                <a:rPr lang="en-US" sz="3399">
                  <a:solidFill>
                    <a:srgbClr val="054E9C"/>
                  </a:solidFill>
                  <a:latin typeface="Arial"/>
                  <a:ea typeface="Arial"/>
                  <a:cs typeface="Arial"/>
                  <a:sym typeface="Arial"/>
                </a:rPr>
                <a:t>?</a:t>
              </a:r>
            </a:p>
          </p:txBody>
        </p:sp>
      </p:grpSp>
      <p:sp>
        <p:nvSpPr>
          <p:cNvPr name="AutoShape 12" id="12"/>
          <p:cNvSpPr/>
          <p:nvPr/>
        </p:nvSpPr>
        <p:spPr>
          <a:xfrm rot="23700">
            <a:off x="7069979" y="6299835"/>
            <a:ext cx="4143470" cy="0"/>
          </a:xfrm>
          <a:prstGeom prst="line">
            <a:avLst/>
          </a:prstGeom>
          <a:ln cap="rnd" w="19050">
            <a:solidFill>
              <a:srgbClr val="C9A22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3" id="13"/>
          <p:cNvGrpSpPr/>
          <p:nvPr/>
        </p:nvGrpSpPr>
        <p:grpSpPr>
          <a:xfrm rot="0">
            <a:off x="0" y="6583680"/>
            <a:ext cx="18283428" cy="548640"/>
            <a:chOff x="0" y="0"/>
            <a:chExt cx="24377904" cy="7315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4377904" cy="731520"/>
            </a:xfrm>
            <a:custGeom>
              <a:avLst/>
              <a:gdLst/>
              <a:ahLst/>
              <a:cxnLst/>
              <a:rect r="r" b="b" t="t" l="l"/>
              <a:pathLst>
                <a:path h="731520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99338" r="0" b="-599338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24377904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99"/>
                </a:lnSpc>
              </a:pPr>
              <a:r>
                <a:rPr lang="en-US" sz="2499">
                  <a:solidFill>
                    <a:srgbClr val="D9D9D9"/>
                  </a:solidFill>
                  <a:latin typeface="Arial"/>
                  <a:ea typeface="Arial"/>
                  <a:cs typeface="Arial"/>
                  <a:sym typeface="Arial"/>
                </a:rPr>
                <a:t>Muhammad Uzair Salaam   |   Mogamat Yaaseen Karriem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0" y="7063740"/>
            <a:ext cx="18283428" cy="480060"/>
            <a:chOff x="0" y="0"/>
            <a:chExt cx="24377904" cy="6400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4377904" cy="640080"/>
            </a:xfrm>
            <a:custGeom>
              <a:avLst/>
              <a:gdLst/>
              <a:ahLst/>
              <a:cxnLst/>
              <a:rect r="r" b="b" t="t" l="l"/>
              <a:pathLst>
                <a:path h="640080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92101" r="0" b="-692101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24377904" cy="6400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99"/>
                </a:lnSpc>
              </a:pPr>
              <a:r>
                <a:rPr lang="en-US" sz="1999">
                  <a:solidFill>
                    <a:srgbClr val="9C9C9C"/>
                  </a:solidFill>
                  <a:latin typeface="Arial"/>
                  <a:ea typeface="Arial"/>
                  <a:cs typeface="Arial"/>
                  <a:sym typeface="Arial"/>
                </a:rPr>
                <a:t>redAcademy Quality Engineering  •  Cohort 2027A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DAHT8EQFM0w</dc:identifier>
  <dcterms:modified xsi:type="dcterms:W3CDTF">2011-08-01T06:04:30Z</dcterms:modified>
  <cp:revision>1</cp:revision>
  <dc:title>Questions?</dc:title>
</cp:coreProperties>
</file>